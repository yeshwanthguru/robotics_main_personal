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0"/>
          </a:xfrm>
          <a:prstGeom prst="rect">
            <a:avLst/>
          </a:prstGeom>
          <a:solidFill>
            <a:srgbClr val="2F2F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Computing for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Robotics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B8E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Survey: Narrowing Down Quantum Computing to Robotics Applications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Quantum AI, Quantum ML, Quantum RL, Quantum DL, and Quantum Cognition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Yeshwanth Guru Krishnakumar | IEEE Robotics &amp; Automation Magazine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SURVEY SCOPE: NARROWING DOWN QUANTUM TO ROBOTICS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7030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survey takes the broad quantum computing landscape and focuses exclusively on robotics applications.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2743200" cy="2743200"/>
          </a:xfrm>
          <a:prstGeom prst="rect">
            <a:avLst/>
          </a:prstGeom>
          <a:solidFill>
            <a:srgbClr val="F5F5F5"/>
          </a:solidFill>
          <a:ln w="12700">
            <a:solidFill>
              <a:srgbClr val="2F2F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7830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Computing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(Broad)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33172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Quantum algorithms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Hardware architectures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Error correction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Cryptography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Drug discovery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Optimization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 rot="5400000">
            <a:off x="3182112" y="3017520"/>
            <a:ext cx="137160" cy="137160"/>
          </a:xfrm>
          <a:prstGeom prst="triangle">
            <a:avLst/>
          </a:prstGeom>
          <a:solidFill>
            <a:srgbClr val="2F2F2F"/>
          </a:solidFill>
          <a:ln/>
        </p:spPr>
      </p:sp>
      <p:sp>
        <p:nvSpPr>
          <p:cNvPr id="9" name="Shape 7"/>
          <p:cNvSpPr/>
          <p:nvPr/>
        </p:nvSpPr>
        <p:spPr>
          <a:xfrm>
            <a:off x="3291840" y="1645920"/>
            <a:ext cx="2743200" cy="2743200"/>
          </a:xfrm>
          <a:prstGeom prst="rect">
            <a:avLst/>
          </a:prstGeom>
          <a:solidFill>
            <a:srgbClr val="F5F5F5"/>
          </a:solidFill>
          <a:ln w="12700">
            <a:solidFill>
              <a:srgbClr val="2F2F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7830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+ AI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29000" y="233172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Quantum ML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Quantum neural networks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Quantum RL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Quantum DL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Quantum cognition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Decision systems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 rot="5400000">
            <a:off x="6108192" y="3017520"/>
            <a:ext cx="137160" cy="137160"/>
          </a:xfrm>
          <a:prstGeom prst="triangle">
            <a:avLst/>
          </a:prstGeom>
          <a:solidFill>
            <a:srgbClr val="2F2F2F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0" y="1645920"/>
            <a:ext cx="2743200" cy="2743200"/>
          </a:xfrm>
          <a:prstGeom prst="rect">
            <a:avLst/>
          </a:prstGeom>
          <a:solidFill>
            <a:srgbClr val="7030A0"/>
          </a:solidFill>
          <a:ln w="38100">
            <a:solidFill>
              <a:srgbClr val="2F2F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7830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ROBOTICS FOCUS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(Survey Scope)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233172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Robot navigation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Path planning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Task scheduling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Swarm coordination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Sensor fusion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Robot learning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control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AI/ML APPLICATIONS IN ROBOTICS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7030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411480" cy="411480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118872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MACHINE LEARNING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1408176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robot perception &amp; classification with quantum circuits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223760" y="12801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03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2-5 years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029968"/>
            <a:ext cx="411480" cy="411480"/>
          </a:xfrm>
          <a:prstGeom prst="rect">
            <a:avLst/>
          </a:prstGeom>
          <a:solidFill>
            <a:srgbClr val="1B8E9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299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02996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REINFORCEMENT LEARNING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224942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optimization for robot navigation &amp; manipulation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223760" y="212140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8E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3-5 years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871216"/>
            <a:ext cx="411480" cy="411480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8712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51560" y="287121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DEEP LEARNING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30906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neural networks for sensor fusion &amp; feature extraction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223760" y="296265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03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4-6 years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712464"/>
            <a:ext cx="411480" cy="411480"/>
          </a:xfrm>
          <a:prstGeom prst="rect">
            <a:avLst/>
          </a:prstGeom>
          <a:solidFill>
            <a:srgbClr val="1B8E9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7124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51560" y="371246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COGNITION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1560" y="393192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Decision-making using quantum probability under uncertainty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223760" y="3803904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8E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2-4 years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RL FOR ROBOT NAVIGATION &amp; PLANNING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7030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03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Q-Learning with Quantum Circuits: Q(s,a,θ) = ⟨ψ_out(s,θ)|M_a|ψ_out(s,θ)⟩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4023360" cy="2743200"/>
          </a:xfrm>
          <a:prstGeom prst="rect">
            <a:avLst/>
          </a:prstGeom>
          <a:solidFill>
            <a:srgbClr val="F5F5F5"/>
          </a:solidFill>
          <a:ln w="25400">
            <a:solidFill>
              <a:srgbClr val="7030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Robot state encoded as quantum circuit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Quantum gates apply learned policy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Measurement yields action (move left/right/forward)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31520" y="3337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Reward signal updates circuit weights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31520" y="3749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Policy converges faster than classical RL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63440" y="1645920"/>
            <a:ext cx="4023360" cy="2743200"/>
          </a:xfrm>
          <a:prstGeom prst="rect">
            <a:avLst/>
          </a:prstGeom>
          <a:solidFill>
            <a:srgbClr val="F5F5F5"/>
          </a:solidFill>
          <a:ln w="25400">
            <a:solidFill>
              <a:srgbClr val="1B8E9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783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8E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Robotics Applications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Mobile robot path planning (100+ waypoints)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46320" y="2514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Manipulator arm control optimization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4632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Swarm multi-agent coordination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46320" y="3337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Adaptive obstacle avoidance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46320" y="3749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Resource-constrained edge devices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SENSING FOR ROBOT PERCEPTION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7030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30A0"/>
                </a:solidFill>
                <a:latin typeface="Calibria" pitchFamily="34" charset="0"/>
                <a:ea typeface="Calibria" pitchFamily="34" charset="-122"/>
                <a:cs typeface="Calibria" pitchFamily="34" charset="-120"/>
              </a:rPr>
              <a:t>Quantum entanglement &amp; squeezing improve sensor precision beyond classical limits (Heisenberg limit vs shot-noise limit)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65760" cy="365760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9164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Quantum-Enhanced LiDAR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89280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range &amp; accuracy for autonomous navigation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749040" y="17373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03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2-10x better precision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309360" y="173736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3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3-5 years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365760" cy="365760"/>
          </a:xfrm>
          <a:prstGeom prst="rect">
            <a:avLst/>
          </a:prstGeom>
          <a:solidFill>
            <a:srgbClr val="1B8E9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60604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Inertial Measurement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80720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 gyroscope &amp; accelerometer for drone stability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749040" y="26517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8E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100x improvement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09360" y="265176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8E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4-6 years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365760" cy="365760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52044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Metrology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372160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clocks for swarm synchronization &amp; distributed coordination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749040" y="35661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03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μs-level timing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09360" y="356616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3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2-3 years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deployment: Quantum sensing is the most mature quantum robotics application; field-ready in 3-5 years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COGNITION: DECISION-MAKING UNDER UNCERTAINTY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7030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quantum probability formalism to model how robots decide when facing uncertainty, ambiguity, and incomplete information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4023360" cy="2560320"/>
          </a:xfrm>
          <a:prstGeom prst="rect">
            <a:avLst/>
          </a:prstGeom>
          <a:solidFill>
            <a:srgbClr val="F5F5F5"/>
          </a:solidFill>
          <a:ln w="25400">
            <a:solidFill>
              <a:srgbClr val="7030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Probability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P(A|B) = P(A∩B) / P(B)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Context-independent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answer per query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Cannot model interference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31520" y="3566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Freezes at measurement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63440" y="1645920"/>
            <a:ext cx="4023360" cy="2560320"/>
          </a:xfrm>
          <a:prstGeom prst="rect">
            <a:avLst/>
          </a:prstGeom>
          <a:solidFill>
            <a:srgbClr val="F5F5F5"/>
          </a:solidFill>
          <a:ln w="25400">
            <a:solidFill>
              <a:srgbClr val="1B8E9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783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8E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Probability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103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P(A|B) = |⟨A|B⟩|²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46320" y="2468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Context-dependent (entanglement)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46320" y="2834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Superposition = multiple paths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46320" y="3200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Quantum interference models uncertainty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46320" y="3566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Continuous measurement adapts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SURVEY COVERAGE: FIVE QUANTUM ROBOTICS PILLARS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7030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457200" cy="457200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11430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AI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1389888"/>
            <a:ext cx="75895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quantum algorithms for robotics (QAOA, VQE, Grover search)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892808"/>
            <a:ext cx="457200" cy="457200"/>
          </a:xfrm>
          <a:prstGeom prst="rect">
            <a:avLst/>
          </a:prstGeom>
          <a:solidFill>
            <a:srgbClr val="1B8E9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189280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ML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2139696"/>
            <a:ext cx="75895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machine learning models: classification, clustering, regression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642616"/>
            <a:ext cx="457200" cy="457200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42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264261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RL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2889504"/>
            <a:ext cx="75895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Q-learning, policy gradient, actor-critic with quantum circuits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392424"/>
            <a:ext cx="457200" cy="457200"/>
          </a:xfrm>
          <a:prstGeom prst="rect">
            <a:avLst/>
          </a:prstGeom>
          <a:solidFill>
            <a:srgbClr val="1B8E9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392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97280" y="339242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DL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3639312"/>
            <a:ext cx="75895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neural networks, barren plateaus, trainability analysis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4142232"/>
            <a:ext cx="457200" cy="457200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142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97280" y="414223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COGNITION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" y="4389120"/>
            <a:ext cx="75895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probability, decision trees, probabilistic reasoning for robots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ROBOTICS APPLICATIONS ACROSS QUANTUM PARADIGMS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7030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274320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703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25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Planning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83280" y="1188720"/>
            <a:ext cx="274320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1B8E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20440" y="1325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Swarm Coordination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188720"/>
            <a:ext cx="274320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7030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325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Fusion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274320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7030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31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Manipulation Control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2194560"/>
            <a:ext cx="274320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1B8E9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2331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Fault Adaptation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2194560"/>
            <a:ext cx="274320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7030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331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Motion Planning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274320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7030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337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Perception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83280" y="3200400"/>
            <a:ext cx="274320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1B8E9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0440" y="3337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Scheduling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3200400"/>
            <a:ext cx="274320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7030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337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Decision-Making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application area mapped to: Quantum AI • Quantum ML • Quantum RL • Quantum DL • Quantum Cognition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REALISTIC QUANTUM ROBOTICS 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7030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365760" cy="365760"/>
          </a:xfrm>
          <a:prstGeom prst="rect">
            <a:avLst/>
          </a:prstGeom>
          <a:solidFill>
            <a:srgbClr val="1B8E9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887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2025-2026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377440" y="1188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8E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06240" y="1188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NISQ algorithms proven in simulation; early hardware experiments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365760" cy="365760"/>
          </a:xfrm>
          <a:prstGeom prst="rect">
            <a:avLst/>
          </a:prstGeom>
          <a:solidFill>
            <a:srgbClr val="1B8E9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9659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2027-2028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77440" y="196596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8E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PROOFS-OF-CONCEPT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0624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RL on small robot tasks; quantum sensing demonstrations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65760" cy="365760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7432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2029-2030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77440" y="274320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03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DEPLOYMENT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06240" y="2743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quantum-classical systems on real robots; commercial quantum sensors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365760" cy="365760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5204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2035+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77440" y="35204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03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MATURE QUANTUM ROBOTICS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06240" y="3520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Fault-tolerant quantum; full orchestration of all five pillars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SURVEY MATTERS FOR ROBOTICS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7030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411480" cy="411480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NARROWING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51560" y="1188720"/>
            <a:ext cx="7635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comprehensive survey that focuses quantum computing scope specifically on robotics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411480" cy="411480"/>
          </a:xfrm>
          <a:prstGeom prst="rect">
            <a:avLst/>
          </a:prstGeom>
          <a:solidFill>
            <a:srgbClr val="1B8E9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65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BREADTH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51560" y="1965960"/>
            <a:ext cx="7635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references spanning quantum AI, ML, RL, DL, cognition with robotics applications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411480" cy="411480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743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51560" y="2743200"/>
            <a:ext cx="7635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Distinguishes hype from reality; realistic timelines and constraints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411480" cy="411480"/>
          </a:xfrm>
          <a:prstGeom prst="rect">
            <a:avLst/>
          </a:prstGeom>
          <a:solidFill>
            <a:srgbClr val="1B8E9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520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51560" y="3520440"/>
            <a:ext cx="7635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quantum computing and robotics researchers—rare connection point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 &amp; PUBLISH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1005840"/>
            <a:ext cx="6400800" cy="0"/>
          </a:xfrm>
          <a:prstGeom prst="line">
            <a:avLst/>
          </a:prstGeom>
          <a:noFill/>
          <a:ln w="38100">
            <a:solidFill>
              <a:srgbClr val="7030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45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Submit to IEEE Robotics &amp; Automation Magazine (target: September 2025)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Positioning: First survey to narrow quantum computing scope to robotics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Audience: Roboticists seeking quantum acceleration without physics PhD required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154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Impact: Catalyze quantum robotics research community 2025-2026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Follow-up: Detailed applications papers on QAOA, QRL, quantum sensing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2026-09-15T17:26:37Z</dcterms:created>
  <dcterms:modified xsi:type="dcterms:W3CDTF">2026-09-15T17:26:37Z</dcterms:modified>
</cp:coreProperties>
</file>