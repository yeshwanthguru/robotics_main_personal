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0"/>
          </a:xfrm>
          <a:prstGeom prst="rect">
            <a:avLst/>
          </a:prstGeom>
          <a:solidFill>
            <a:srgbClr val="2F2F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Computing for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Robotics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Near-Term Applications &amp; Practical Limitations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Yeshwanth Guru Krishnakumar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Robotics Research Group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7030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320040" cy="32004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Complexity Explosion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path planning through 100 locations: ~100! possible routes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320040" cy="320040"/>
          </a:xfrm>
          <a:prstGeom prst="rect">
            <a:avLst/>
          </a:prstGeom>
          <a:solidFill>
            <a:srgbClr val="1B8E9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194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Multi-Robot Scaling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560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Swarms of 10 robots optimizing collective action: 10^10+ state combinations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Bottleneck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algorithms hit exponential wall; quantum promises acceleration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320040" cy="320040"/>
          </a:xfrm>
          <a:prstGeom prst="rect">
            <a:avLst/>
          </a:prstGeom>
          <a:solidFill>
            <a:srgbClr val="1B8E9F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023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Reality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4389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computers today: small, noisy, slow—not ready for direct control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POSITIONING &amp; SCIENTIFIC GAP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7030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proposal addresses a concrete unsolved problem in quantum robotics—not hype, but practical solutions.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Position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Hybrid quantum-classical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Offline quantum planning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(seconds-to-minutes)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classical control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(2-20ms) on robot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0" y="1737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Scientific Gap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214884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Quantum latency ≥100ms vs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control 2-20ms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0" y="283464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Current systems freeze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decisions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352044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framework for seamless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09360" y="1737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PhD Target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214884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Develop practical roadmap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near-term (3-5 years)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09360" y="283464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Identify achievable quantum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for robots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09360" y="352044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Validate with real hardware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NEAR-TERM APPLICATIONS (3-5 YEARS)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7030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2801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QAOA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50876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task scheduling &amp; combinatorial optimization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457200" cy="45720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21031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ML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233172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RL for navigation; quantum circuit training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57200" cy="45720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29260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Sensing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315468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LiDAR &amp; inertial measurement (3-5yr timeline)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457200" cy="45720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37490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Cognition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97764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Decision-making using quantum probability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QUANTUM-CLASSICAL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7030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965960"/>
            <a:ext cx="1097280" cy="640080"/>
          </a:xfrm>
          <a:prstGeom prst="rect">
            <a:avLst/>
          </a:prstGeom>
          <a:solidFill>
            <a:srgbClr val="F5F5F5"/>
          </a:solidFill>
          <a:ln w="25400">
            <a:solidFill>
              <a:srgbClr val="2F2F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 rot="5400000">
            <a:off x="1783080" y="2148840"/>
            <a:ext cx="137160" cy="137160"/>
          </a:xfrm>
          <a:prstGeom prst="triangle">
            <a:avLst/>
          </a:prstGeom>
          <a:solidFill>
            <a:srgbClr val="2F2F2F"/>
          </a:solidFill>
          <a:ln/>
        </p:spPr>
      </p:sp>
      <p:sp>
        <p:nvSpPr>
          <p:cNvPr id="7" name="Shape 5"/>
          <p:cNvSpPr/>
          <p:nvPr/>
        </p:nvSpPr>
        <p:spPr>
          <a:xfrm>
            <a:off x="2103120" y="1828800"/>
            <a:ext cx="1188720" cy="914400"/>
          </a:xfrm>
          <a:prstGeom prst="rect">
            <a:avLst/>
          </a:prstGeom>
          <a:solidFill>
            <a:srgbClr val="7030A0"/>
          </a:solidFill>
          <a:ln w="25400">
            <a:solidFill>
              <a:srgbClr val="2F2F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0" y="182880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(100ms+)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 rot="5400000">
            <a:off x="3337560" y="2148840"/>
            <a:ext cx="137160" cy="137160"/>
          </a:xfrm>
          <a:prstGeom prst="triangle">
            <a:avLst/>
          </a:prstGeom>
          <a:solidFill>
            <a:srgbClr val="2F2F2F"/>
          </a:solidFill>
          <a:ln/>
        </p:spPr>
      </p:sp>
      <p:sp>
        <p:nvSpPr>
          <p:cNvPr id="10" name="Shape 8"/>
          <p:cNvSpPr/>
          <p:nvPr/>
        </p:nvSpPr>
        <p:spPr>
          <a:xfrm>
            <a:off x="3566160" y="1965960"/>
            <a:ext cx="1188720" cy="640080"/>
          </a:xfrm>
          <a:prstGeom prst="rect">
            <a:avLst/>
          </a:prstGeom>
          <a:solidFill>
            <a:srgbClr val="1B8E9F"/>
          </a:solidFill>
          <a:ln w="25400">
            <a:solidFill>
              <a:srgbClr val="2F2F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(2-20ms)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 rot="5400000">
            <a:off x="4800600" y="2148840"/>
            <a:ext cx="137160" cy="137160"/>
          </a:xfrm>
          <a:prstGeom prst="triangle">
            <a:avLst/>
          </a:prstGeom>
          <a:solidFill>
            <a:srgbClr val="2F2F2F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0" y="1965960"/>
            <a:ext cx="1097280" cy="640080"/>
          </a:xfrm>
          <a:prstGeom prst="rect">
            <a:avLst/>
          </a:prstGeom>
          <a:solidFill>
            <a:srgbClr val="F5F5F5"/>
          </a:solidFill>
          <a:ln w="25400">
            <a:solidFill>
              <a:srgbClr val="2F2F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9659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timescales: Quantum planning is offline (seconds); real-time control stays classical (milliseconds)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520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Innovation: Learned Orchestration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794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choosing one mode, the system dynamically decides: "Use quantum for high-level planning, classical for real-time feedback, and quantum cognition for uncertainty."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COGNITION FOR ROBOT DECISION-MAKING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7030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F5F5F5"/>
          </a:solidFill>
          <a:ln w="25400">
            <a:solidFill>
              <a:srgbClr val="703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Probability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P(A|B) = P(A∩B) / P(B)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Context-independent: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P(A|B) same regardless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other information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F5F5F5"/>
          </a:solidFill>
          <a:ln w="25400">
            <a:solidFill>
              <a:srgbClr val="1B8E9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Probability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B8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P(A|B) = |⟨A|B⟩|²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187452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Context-dependent: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P(A|B) changes based 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entanglement with prior states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0175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Impact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337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Robots make more robust decisions under uncertainty (context matters)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3749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Fuses multiple sensor inputs more naturally (entanglement models correlation)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4160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Projective simulation enables quantum-inspired learning agents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4572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Faster convergence in decision trees for swarm coordination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CONSTRAINTS: HARDWARE LIMITATIONS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7030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365760" cy="36576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8872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NISQ Era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138988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50-100 qubits, 0.1-1% error rates (today)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365760" cy="36576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87452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 Mismatch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07568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≥100ms vs robot control 2-20ms (impossible to sync)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365760" cy="36576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56032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Barren Plateaus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76148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quantum circuits plateau in training (exponential scaling)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365760" cy="365760"/>
          </a:xfrm>
          <a:prstGeom prst="rect">
            <a:avLst/>
          </a:prstGeom>
          <a:solidFill>
            <a:srgbClr val="1B8E9F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24612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Coherence Time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344728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microseconds limit on quantum state preservation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365760" cy="365760"/>
          </a:xfrm>
          <a:prstGeom prst="rect">
            <a:avLst/>
          </a:prstGeom>
          <a:solidFill>
            <a:srgbClr val="1B8E9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93192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Quantum Control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413308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remain impractical for decades (decades, not years)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03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hard truth: quantum-classical hybrid is not a workaround, but the only realistic path for the next 5-10 years.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REALISTIC TECHNOLOGY 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7030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828800"/>
            <a:ext cx="365760" cy="365760"/>
          </a:xfrm>
          <a:prstGeom prst="ellipse">
            <a:avLst/>
          </a:prstGeom>
          <a:solidFill>
            <a:srgbClr val="1B8E9F"/>
          </a:solidFill>
          <a:ln w="25400">
            <a:solidFill>
              <a:srgbClr val="2F2F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331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(2025)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27432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NISQ Experiments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97280" y="2011680"/>
            <a:ext cx="868680" cy="0"/>
          </a:xfrm>
          <a:prstGeom prst="line">
            <a:avLst/>
          </a:prstGeom>
          <a:noFill/>
          <a:ln w="25400">
            <a:solidFill>
              <a:srgbClr val="2F2F2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88920" y="1828800"/>
            <a:ext cx="365760" cy="365760"/>
          </a:xfrm>
          <a:prstGeom prst="ellipse">
            <a:avLst/>
          </a:prstGeom>
          <a:solidFill>
            <a:srgbClr val="7030A0"/>
          </a:solidFill>
          <a:ln w="25400">
            <a:solidFill>
              <a:srgbClr val="2F2F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2331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2027-2028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68880" y="27432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Proofs-of-Concept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2011680"/>
            <a:ext cx="868680" cy="0"/>
          </a:xfrm>
          <a:prstGeom prst="line">
            <a:avLst/>
          </a:prstGeom>
          <a:noFill/>
          <a:ln w="25400">
            <a:solidFill>
              <a:srgbClr val="2F2F2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828800"/>
            <a:ext cx="365760" cy="365760"/>
          </a:xfrm>
          <a:prstGeom prst="ellipse">
            <a:avLst/>
          </a:prstGeom>
          <a:solidFill>
            <a:srgbClr val="1B8E9F"/>
          </a:solidFill>
          <a:ln w="25400">
            <a:solidFill>
              <a:srgbClr val="2F2F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331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2029-2030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26280" y="27432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Deployment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12080" y="2011680"/>
            <a:ext cx="868680" cy="0"/>
          </a:xfrm>
          <a:prstGeom prst="line">
            <a:avLst/>
          </a:prstGeom>
          <a:noFill/>
          <a:ln w="25400">
            <a:solidFill>
              <a:srgbClr val="2F2F2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03720" y="1828800"/>
            <a:ext cx="365760" cy="365760"/>
          </a:xfrm>
          <a:prstGeom prst="ellipse">
            <a:avLst/>
          </a:prstGeom>
          <a:solidFill>
            <a:srgbClr val="7030A0"/>
          </a:solidFill>
          <a:ln w="25400">
            <a:solidFill>
              <a:srgbClr val="2F2F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2331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2035+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0" y="27432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Hardware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383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Maturity Curve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703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NOW: Quantum advantage proven only in narrow, offline simulations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4069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2027-28: First robots demonstrate quantum-accelerated task planning on real hardware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4434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2029-30: Commercial quantum sensing available (enhanced LiDAR, IMUs)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4800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2035+: Full quantum-classical orchestration; quantum cognition matures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IEEE ROBOTICS &amp; AUTOMATION MAGAZINE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7030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411480" cy="41148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51560" y="1188720"/>
            <a:ext cx="7635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through quantum hype with rigorous robotics analysis—practical, not theoretical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11480" cy="411480"/>
          </a:xfrm>
          <a:prstGeom prst="rect">
            <a:avLst/>
          </a:prstGeom>
          <a:solidFill>
            <a:srgbClr val="1B8E9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RIGOR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51560" y="1783080"/>
            <a:ext cx="7635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peer-reviewed citations across quantum computing &amp; robotics literature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411480" cy="41148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77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51560" y="2377440"/>
            <a:ext cx="7635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realistic timeline: what works NOW vs. overpromised tech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411480" cy="411480"/>
          </a:xfrm>
          <a:prstGeom prst="rect">
            <a:avLst/>
          </a:prstGeom>
          <a:solidFill>
            <a:srgbClr val="1B8E9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71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51560" y="2971800"/>
            <a:ext cx="7635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two communities: quantum physicists &amp; roboticists (rarely interact)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411480" cy="41148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566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51560" y="3566160"/>
            <a:ext cx="7635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Publication-ready after 1 revision cycle; targeted for Spring 2025 issue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&amp; CALL TO ACTION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097280"/>
            <a:ext cx="6400800" cy="0"/>
          </a:xfrm>
          <a:prstGeom prst="line">
            <a:avLst/>
          </a:prstGeom>
          <a:noFill/>
          <a:ln w="38100">
            <a:solidFill>
              <a:srgbClr val="7030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Submit to IEEE Robotics &amp; Automation Magazine by end of September 2025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Expect major revision cycle (6-8 weeks turnaround typical)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Position this as authoritative near-term guide for roboticists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Follow with applications paper: QAOA for multi-robot swarm scheduling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Lead quantum robotics conversation in robotics community 2025-2026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2026-09-15T17:22:13Z</dcterms:created>
  <dcterms:modified xsi:type="dcterms:W3CDTF">2026-09-15T17:22:13Z</dcterms:modified>
</cp:coreProperties>
</file>