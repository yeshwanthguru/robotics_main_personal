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  <p:sldMasterId id="2147483648" r:id="rId2"/>
  </p:sldMasterIdLst>
  <p:notesMasterIdLst>
    <p:notesMasterId r:id="rId25"/>
  </p:notesMasterIdLst>
  <p:sldIdLst>
    <p:sldId id="264" r:id="rId3"/>
    <p:sldId id="289" r:id="rId4"/>
    <p:sldId id="290" r:id="rId5"/>
    <p:sldId id="291" r:id="rId6"/>
    <p:sldId id="292" r:id="rId7"/>
    <p:sldId id="298" r:id="rId8"/>
    <p:sldId id="293" r:id="rId9"/>
    <p:sldId id="306" r:id="rId10"/>
    <p:sldId id="308" r:id="rId11"/>
    <p:sldId id="302" r:id="rId12"/>
    <p:sldId id="303" r:id="rId13"/>
    <p:sldId id="304" r:id="rId14"/>
    <p:sldId id="305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DAF294-7758-48A4-9046-927786EDB62F}" v="1" dt="2026-09-02T17:27:31.3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64" y="8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eshwanth guru" userId="4d80ee16f2bc6fd9" providerId="LiveId" clId="{A8250458-2220-401B-8DB9-F3CD59F72151}"/>
    <pc:docChg chg="custSel modSld">
      <pc:chgData name="yeshwanth guru" userId="4d80ee16f2bc6fd9" providerId="LiveId" clId="{A8250458-2220-401B-8DB9-F3CD59F72151}" dt="2026-09-02T17:27:31.524" v="62" actId="27636"/>
      <pc:docMkLst>
        <pc:docMk/>
      </pc:docMkLst>
      <pc:sldChg chg="modSp mod">
        <pc:chgData name="yeshwanth guru" userId="4d80ee16f2bc6fd9" providerId="LiveId" clId="{A8250458-2220-401B-8DB9-F3CD59F72151}" dt="2026-09-02T17:27:31.384" v="1" actId="27636"/>
        <pc:sldMkLst>
          <pc:docMk/>
          <pc:sldMk cId="4052030537" sldId="264"/>
        </pc:sldMkLst>
        <pc:spChg chg="mod">
          <ac:chgData name="yeshwanth guru" userId="4d80ee16f2bc6fd9" providerId="LiveId" clId="{A8250458-2220-401B-8DB9-F3CD59F72151}" dt="2026-09-02T17:27:31.384" v="1" actId="27636"/>
          <ac:spMkLst>
            <pc:docMk/>
            <pc:sldMk cId="4052030537" sldId="264"/>
            <ac:spMk id="8" creationId="{4D9FF381-CC9C-48F9-91A7-A193AAAA4B40}"/>
          </ac:spMkLst>
        </pc:spChg>
        <pc:spChg chg="mod">
          <ac:chgData name="yeshwanth guru" userId="4d80ee16f2bc6fd9" providerId="LiveId" clId="{A8250458-2220-401B-8DB9-F3CD59F72151}" dt="2026-09-02T17:27:31.378" v="0" actId="27636"/>
          <ac:spMkLst>
            <pc:docMk/>
            <pc:sldMk cId="4052030537" sldId="264"/>
            <ac:spMk id="9" creationId="{F1EAD952-C5C3-4259-B02D-96A231E19F43}"/>
          </ac:spMkLst>
        </pc:spChg>
      </pc:sldChg>
      <pc:sldChg chg="modSp mod">
        <pc:chgData name="yeshwanth guru" userId="4d80ee16f2bc6fd9" providerId="LiveId" clId="{A8250458-2220-401B-8DB9-F3CD59F72151}" dt="2026-09-02T17:27:31.396" v="6" actId="27636"/>
        <pc:sldMkLst>
          <pc:docMk/>
          <pc:sldMk cId="3100206796" sldId="289"/>
        </pc:sldMkLst>
        <pc:spChg chg="mod">
          <ac:chgData name="yeshwanth guru" userId="4d80ee16f2bc6fd9" providerId="LiveId" clId="{A8250458-2220-401B-8DB9-F3CD59F72151}" dt="2026-09-02T17:27:31.396" v="6" actId="27636"/>
          <ac:spMkLst>
            <pc:docMk/>
            <pc:sldMk cId="3100206796" sldId="289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396" v="4" actId="27636"/>
          <ac:spMkLst>
            <pc:docMk/>
            <pc:sldMk cId="3100206796" sldId="289"/>
            <ac:spMk id="5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396" v="5" actId="27636"/>
          <ac:spMkLst>
            <pc:docMk/>
            <pc:sldMk cId="3100206796" sldId="289"/>
            <ac:spMk id="12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396" v="3" actId="27636"/>
          <ac:spMkLst>
            <pc:docMk/>
            <pc:sldMk cId="3100206796" sldId="289"/>
            <ac:spMk id="18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396" v="2" actId="27636"/>
          <ac:spMkLst>
            <pc:docMk/>
            <pc:sldMk cId="3100206796" sldId="289"/>
            <ac:spMk id="20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16" v="10" actId="27636"/>
        <pc:sldMkLst>
          <pc:docMk/>
          <pc:sldMk cId="3332738295" sldId="290"/>
        </pc:sldMkLst>
        <pc:spChg chg="mod">
          <ac:chgData name="yeshwanth guru" userId="4d80ee16f2bc6fd9" providerId="LiveId" clId="{A8250458-2220-401B-8DB9-F3CD59F72151}" dt="2026-09-02T17:27:31.414" v="9" actId="27636"/>
          <ac:spMkLst>
            <pc:docMk/>
            <pc:sldMk cId="3332738295" sldId="290"/>
            <ac:spMk id="7" creationId="{D8BC7E26-4FC2-44F5-91B1-167AA80EB57B}"/>
          </ac:spMkLst>
        </pc:spChg>
        <pc:spChg chg="mod">
          <ac:chgData name="yeshwanth guru" userId="4d80ee16f2bc6fd9" providerId="LiveId" clId="{A8250458-2220-401B-8DB9-F3CD59F72151}" dt="2026-09-02T17:27:31.412" v="7" actId="27636"/>
          <ac:spMkLst>
            <pc:docMk/>
            <pc:sldMk cId="3332738295" sldId="290"/>
            <ac:spMk id="10" creationId="{86A3F16B-C5A3-4B8D-B033-D67AA029C7AB}"/>
          </ac:spMkLst>
        </pc:spChg>
        <pc:spChg chg="mod">
          <ac:chgData name="yeshwanth guru" userId="4d80ee16f2bc6fd9" providerId="LiveId" clId="{A8250458-2220-401B-8DB9-F3CD59F72151}" dt="2026-09-02T17:27:31.416" v="10" actId="27636"/>
          <ac:spMkLst>
            <pc:docMk/>
            <pc:sldMk cId="3332738295" sldId="290"/>
            <ac:spMk id="13" creationId="{6BEB62CA-8F25-4F25-BBF2-53E01EF40B5B}"/>
          </ac:spMkLst>
        </pc:spChg>
        <pc:spChg chg="mod">
          <ac:chgData name="yeshwanth guru" userId="4d80ee16f2bc6fd9" providerId="LiveId" clId="{A8250458-2220-401B-8DB9-F3CD59F72151}" dt="2026-09-02T17:27:31.414" v="8" actId="27636"/>
          <ac:spMkLst>
            <pc:docMk/>
            <pc:sldMk cId="3332738295" sldId="290"/>
            <ac:spMk id="16" creationId="{05D07D9C-93B5-4C1E-A275-4AE95FA3A46A}"/>
          </ac:spMkLst>
        </pc:spChg>
      </pc:sldChg>
      <pc:sldChg chg="modSp mod">
        <pc:chgData name="yeshwanth guru" userId="4d80ee16f2bc6fd9" providerId="LiveId" clId="{A8250458-2220-401B-8DB9-F3CD59F72151}" dt="2026-09-02T17:27:31.429" v="14" actId="27636"/>
        <pc:sldMkLst>
          <pc:docMk/>
          <pc:sldMk cId="2009806483" sldId="291"/>
        </pc:sldMkLst>
        <pc:spChg chg="mod">
          <ac:chgData name="yeshwanth guru" userId="4d80ee16f2bc6fd9" providerId="LiveId" clId="{A8250458-2220-401B-8DB9-F3CD59F72151}" dt="2026-09-02T17:27:31.429" v="14" actId="27636"/>
          <ac:spMkLst>
            <pc:docMk/>
            <pc:sldMk cId="2009806483" sldId="291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29" v="13" actId="27636"/>
          <ac:spMkLst>
            <pc:docMk/>
            <pc:sldMk cId="2009806483" sldId="291"/>
            <ac:spMk id="8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20" v="12" actId="27636"/>
          <ac:spMkLst>
            <pc:docMk/>
            <pc:sldMk cId="2009806483" sldId="291"/>
            <ac:spMk id="11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20" v="11" actId="27636"/>
          <ac:spMkLst>
            <pc:docMk/>
            <pc:sldMk cId="2009806483" sldId="291"/>
            <ac:spMk id="14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36" v="20" actId="27636"/>
        <pc:sldMkLst>
          <pc:docMk/>
          <pc:sldMk cId="896582444" sldId="292"/>
        </pc:sldMkLst>
        <pc:spChg chg="mod">
          <ac:chgData name="yeshwanth guru" userId="4d80ee16f2bc6fd9" providerId="LiveId" clId="{A8250458-2220-401B-8DB9-F3CD59F72151}" dt="2026-09-02T17:27:31.436" v="18" actId="27636"/>
          <ac:spMkLst>
            <pc:docMk/>
            <pc:sldMk cId="896582444" sldId="292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36" v="16" actId="27636"/>
          <ac:spMkLst>
            <pc:docMk/>
            <pc:sldMk cId="896582444" sldId="292"/>
            <ac:spMk id="8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36" v="20" actId="27636"/>
          <ac:spMkLst>
            <pc:docMk/>
            <pc:sldMk cId="896582444" sldId="292"/>
            <ac:spMk id="12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36" v="19" actId="27636"/>
          <ac:spMkLst>
            <pc:docMk/>
            <pc:sldMk cId="896582444" sldId="292"/>
            <ac:spMk id="16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36" v="17" actId="27636"/>
          <ac:spMkLst>
            <pc:docMk/>
            <pc:sldMk cId="896582444" sldId="292"/>
            <ac:spMk id="20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29" v="15" actId="27636"/>
          <ac:spMkLst>
            <pc:docMk/>
            <pc:sldMk cId="896582444" sldId="292"/>
            <ac:spMk id="24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68" v="33" actId="27636"/>
        <pc:sldMkLst>
          <pc:docMk/>
          <pc:sldMk cId="3355437883" sldId="293"/>
        </pc:sldMkLst>
        <pc:spChg chg="mod">
          <ac:chgData name="yeshwanth guru" userId="4d80ee16f2bc6fd9" providerId="LiveId" clId="{A8250458-2220-401B-8DB9-F3CD59F72151}" dt="2026-09-02T17:27:31.459" v="30" actId="27636"/>
          <ac:spMkLst>
            <pc:docMk/>
            <pc:sldMk cId="3355437883" sldId="293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61" v="31" actId="27636"/>
          <ac:spMkLst>
            <pc:docMk/>
            <pc:sldMk cId="3355437883" sldId="293"/>
            <ac:spMk id="48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55" v="27" actId="27636"/>
          <ac:spMkLst>
            <pc:docMk/>
            <pc:sldMk cId="3355437883" sldId="293"/>
            <ac:spMk id="50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63" v="32" actId="27636"/>
          <ac:spMkLst>
            <pc:docMk/>
            <pc:sldMk cId="3355437883" sldId="293"/>
            <ac:spMk id="51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55" v="28" actId="27636"/>
          <ac:spMkLst>
            <pc:docMk/>
            <pc:sldMk cId="3355437883" sldId="293"/>
            <ac:spMk id="53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57" v="29" actId="27636"/>
          <ac:spMkLst>
            <pc:docMk/>
            <pc:sldMk cId="3355437883" sldId="293"/>
            <ac:spMk id="5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68" v="33" actId="27636"/>
          <ac:spMkLst>
            <pc:docMk/>
            <pc:sldMk cId="3355437883" sldId="293"/>
            <ac:spMk id="56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53" v="26" actId="27636"/>
          <ac:spMkLst>
            <pc:docMk/>
            <pc:sldMk cId="3355437883" sldId="293"/>
            <ac:spMk id="57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49" v="25" actId="27636"/>
        <pc:sldMkLst>
          <pc:docMk/>
          <pc:sldMk cId="1027488731" sldId="298"/>
        </pc:sldMkLst>
        <pc:spChg chg="mod">
          <ac:chgData name="yeshwanth guru" userId="4d80ee16f2bc6fd9" providerId="LiveId" clId="{A8250458-2220-401B-8DB9-F3CD59F72151}" dt="2026-09-02T17:27:31.446" v="23" actId="27636"/>
          <ac:spMkLst>
            <pc:docMk/>
            <pc:sldMk cId="1027488731" sldId="298"/>
            <ac:spMk id="8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46" v="24" actId="27636"/>
          <ac:spMkLst>
            <pc:docMk/>
            <pc:sldMk cId="1027488731" sldId="298"/>
            <ac:spMk id="12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36" v="21" actId="27636"/>
          <ac:spMkLst>
            <pc:docMk/>
            <pc:sldMk cId="1027488731" sldId="298"/>
            <ac:spMk id="16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45" v="22" actId="27636"/>
          <ac:spMkLst>
            <pc:docMk/>
            <pc:sldMk cId="1027488731" sldId="298"/>
            <ac:spMk id="20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49" v="25" actId="27636"/>
          <ac:spMkLst>
            <pc:docMk/>
            <pc:sldMk cId="1027488731" sldId="298"/>
            <ac:spMk id="24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93" v="44" actId="27636"/>
        <pc:sldMkLst>
          <pc:docMk/>
          <pc:sldMk cId="2410076463" sldId="302"/>
        </pc:sldMkLst>
        <pc:spChg chg="mod">
          <ac:chgData name="yeshwanth guru" userId="4d80ee16f2bc6fd9" providerId="LiveId" clId="{A8250458-2220-401B-8DB9-F3CD59F72151}" dt="2026-09-02T17:27:31.493" v="43" actId="27636"/>
          <ac:spMkLst>
            <pc:docMk/>
            <pc:sldMk cId="2410076463" sldId="302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4" actId="27636"/>
          <ac:spMkLst>
            <pc:docMk/>
            <pc:sldMk cId="2410076463" sldId="302"/>
            <ac:spMk id="7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85" v="41" actId="27636"/>
          <ac:spMkLst>
            <pc:docMk/>
            <pc:sldMk cId="2410076463" sldId="302"/>
            <ac:spMk id="10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2" actId="27636"/>
          <ac:spMkLst>
            <pc:docMk/>
            <pc:sldMk cId="2410076463" sldId="302"/>
            <ac:spMk id="13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93" v="50" actId="27636"/>
        <pc:sldMkLst>
          <pc:docMk/>
          <pc:sldMk cId="970255084" sldId="303"/>
        </pc:sldMkLst>
        <pc:spChg chg="mod">
          <ac:chgData name="yeshwanth guru" userId="4d80ee16f2bc6fd9" providerId="LiveId" clId="{A8250458-2220-401B-8DB9-F3CD59F72151}" dt="2026-09-02T17:27:31.493" v="50" actId="27636"/>
          <ac:spMkLst>
            <pc:docMk/>
            <pc:sldMk cId="970255084" sldId="303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9" actId="27636"/>
          <ac:spMkLst>
            <pc:docMk/>
            <pc:sldMk cId="970255084" sldId="303"/>
            <ac:spMk id="9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5" actId="27636"/>
          <ac:spMkLst>
            <pc:docMk/>
            <pc:sldMk cId="970255084" sldId="303"/>
            <ac:spMk id="1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8" actId="27636"/>
          <ac:spMkLst>
            <pc:docMk/>
            <pc:sldMk cId="970255084" sldId="303"/>
            <ac:spMk id="19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6" actId="27636"/>
          <ac:spMkLst>
            <pc:docMk/>
            <pc:sldMk cId="970255084" sldId="303"/>
            <ac:spMk id="2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93" v="47" actId="27636"/>
          <ac:spMkLst>
            <pc:docMk/>
            <pc:sldMk cId="970255084" sldId="303"/>
            <ac:spMk id="29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508" v="54" actId="27636"/>
        <pc:sldMkLst>
          <pc:docMk/>
          <pc:sldMk cId="1666103201" sldId="304"/>
        </pc:sldMkLst>
        <pc:spChg chg="mod">
          <ac:chgData name="yeshwanth guru" userId="4d80ee16f2bc6fd9" providerId="LiveId" clId="{A8250458-2220-401B-8DB9-F3CD59F72151}" dt="2026-09-02T17:27:31.508" v="52" actId="27636"/>
          <ac:spMkLst>
            <pc:docMk/>
            <pc:sldMk cId="1666103201" sldId="304"/>
            <ac:spMk id="7" creationId="{D8BC7E26-4FC2-44F5-91B1-167AA80EB57B}"/>
          </ac:spMkLst>
        </pc:spChg>
        <pc:spChg chg="mod">
          <ac:chgData name="yeshwanth guru" userId="4d80ee16f2bc6fd9" providerId="LiveId" clId="{A8250458-2220-401B-8DB9-F3CD59F72151}" dt="2026-09-02T17:27:31.508" v="51" actId="27636"/>
          <ac:spMkLst>
            <pc:docMk/>
            <pc:sldMk cId="1666103201" sldId="304"/>
            <ac:spMk id="10" creationId="{86A3F16B-C5A3-4B8D-B033-D67AA029C7AB}"/>
          </ac:spMkLst>
        </pc:spChg>
        <pc:spChg chg="mod">
          <ac:chgData name="yeshwanth guru" userId="4d80ee16f2bc6fd9" providerId="LiveId" clId="{A8250458-2220-401B-8DB9-F3CD59F72151}" dt="2026-09-02T17:27:31.508" v="53" actId="27636"/>
          <ac:spMkLst>
            <pc:docMk/>
            <pc:sldMk cId="1666103201" sldId="304"/>
            <ac:spMk id="13" creationId="{6BEB62CA-8F25-4F25-BBF2-53E01EF40B5B}"/>
          </ac:spMkLst>
        </pc:spChg>
        <pc:spChg chg="mod">
          <ac:chgData name="yeshwanth guru" userId="4d80ee16f2bc6fd9" providerId="LiveId" clId="{A8250458-2220-401B-8DB9-F3CD59F72151}" dt="2026-09-02T17:27:31.508" v="54" actId="27636"/>
          <ac:spMkLst>
            <pc:docMk/>
            <pc:sldMk cId="1666103201" sldId="304"/>
            <ac:spMk id="16" creationId="{05D07D9C-93B5-4C1E-A275-4AE95FA3A46A}"/>
          </ac:spMkLst>
        </pc:spChg>
      </pc:sldChg>
      <pc:sldChg chg="modSp mod">
        <pc:chgData name="yeshwanth guru" userId="4d80ee16f2bc6fd9" providerId="LiveId" clId="{A8250458-2220-401B-8DB9-F3CD59F72151}" dt="2026-09-02T17:27:31.508" v="57" actId="27636"/>
        <pc:sldMkLst>
          <pc:docMk/>
          <pc:sldMk cId="3570285771" sldId="305"/>
        </pc:sldMkLst>
        <pc:spChg chg="mod">
          <ac:chgData name="yeshwanth guru" userId="4d80ee16f2bc6fd9" providerId="LiveId" clId="{A8250458-2220-401B-8DB9-F3CD59F72151}" dt="2026-09-02T17:27:31.508" v="56" actId="27636"/>
          <ac:spMkLst>
            <pc:docMk/>
            <pc:sldMk cId="3570285771" sldId="305"/>
            <ac:spMk id="4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508" v="57" actId="27636"/>
          <ac:spMkLst>
            <pc:docMk/>
            <pc:sldMk cId="3570285771" sldId="305"/>
            <ac:spMk id="6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508" v="55" actId="27636"/>
          <ac:spMkLst>
            <pc:docMk/>
            <pc:sldMk cId="3570285771" sldId="305"/>
            <ac:spMk id="9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79" v="36" actId="27636"/>
        <pc:sldMkLst>
          <pc:docMk/>
          <pc:sldMk cId="3709301203" sldId="306"/>
        </pc:sldMkLst>
        <pc:spChg chg="mod">
          <ac:chgData name="yeshwanth guru" userId="4d80ee16f2bc6fd9" providerId="LiveId" clId="{A8250458-2220-401B-8DB9-F3CD59F72151}" dt="2026-09-02T17:27:31.476" v="34" actId="27636"/>
          <ac:spMkLst>
            <pc:docMk/>
            <pc:sldMk cId="3709301203" sldId="306"/>
            <ac:spMk id="8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79" v="35" actId="27636"/>
          <ac:spMkLst>
            <pc:docMk/>
            <pc:sldMk cId="3709301203" sldId="306"/>
            <ac:spMk id="11" creationId="{00000000-0000-0000-0000-000000000000}"/>
          </ac:spMkLst>
        </pc:spChg>
        <pc:spChg chg="mod">
          <ac:chgData name="yeshwanth guru" userId="4d80ee16f2bc6fd9" providerId="LiveId" clId="{A8250458-2220-401B-8DB9-F3CD59F72151}" dt="2026-09-02T17:27:31.479" v="36" actId="27636"/>
          <ac:spMkLst>
            <pc:docMk/>
            <pc:sldMk cId="3709301203" sldId="306"/>
            <ac:spMk id="14" creationId="{00000000-0000-0000-0000-000000000000}"/>
          </ac:spMkLst>
        </pc:spChg>
      </pc:sldChg>
      <pc:sldChg chg="modSp mod">
        <pc:chgData name="yeshwanth guru" userId="4d80ee16f2bc6fd9" providerId="LiveId" clId="{A8250458-2220-401B-8DB9-F3CD59F72151}" dt="2026-09-02T17:27:31.485" v="40" actId="27636"/>
        <pc:sldMkLst>
          <pc:docMk/>
          <pc:sldMk cId="3332738295" sldId="308"/>
        </pc:sldMkLst>
        <pc:spChg chg="mod">
          <ac:chgData name="yeshwanth guru" userId="4d80ee16f2bc6fd9" providerId="LiveId" clId="{A8250458-2220-401B-8DB9-F3CD59F72151}" dt="2026-09-02T17:27:31.485" v="39" actId="27636"/>
          <ac:spMkLst>
            <pc:docMk/>
            <pc:sldMk cId="3332738295" sldId="308"/>
            <ac:spMk id="7" creationId="{D8BC7E26-4FC2-44F5-91B1-167AA80EB57B}"/>
          </ac:spMkLst>
        </pc:spChg>
        <pc:spChg chg="mod">
          <ac:chgData name="yeshwanth guru" userId="4d80ee16f2bc6fd9" providerId="LiveId" clId="{A8250458-2220-401B-8DB9-F3CD59F72151}" dt="2026-09-02T17:27:31.479" v="38" actId="27636"/>
          <ac:spMkLst>
            <pc:docMk/>
            <pc:sldMk cId="3332738295" sldId="308"/>
            <ac:spMk id="10" creationId="{86A3F16B-C5A3-4B8D-B033-D67AA029C7AB}"/>
          </ac:spMkLst>
        </pc:spChg>
        <pc:spChg chg="mod">
          <ac:chgData name="yeshwanth guru" userId="4d80ee16f2bc6fd9" providerId="LiveId" clId="{A8250458-2220-401B-8DB9-F3CD59F72151}" dt="2026-09-02T17:27:31.485" v="40" actId="27636"/>
          <ac:spMkLst>
            <pc:docMk/>
            <pc:sldMk cId="3332738295" sldId="308"/>
            <ac:spMk id="13" creationId="{6BEB62CA-8F25-4F25-BBF2-53E01EF40B5B}"/>
          </ac:spMkLst>
        </pc:spChg>
        <pc:spChg chg="mod">
          <ac:chgData name="yeshwanth guru" userId="4d80ee16f2bc6fd9" providerId="LiveId" clId="{A8250458-2220-401B-8DB9-F3CD59F72151}" dt="2026-09-02T17:27:31.479" v="37" actId="27636"/>
          <ac:spMkLst>
            <pc:docMk/>
            <pc:sldMk cId="3332738295" sldId="308"/>
            <ac:spMk id="16" creationId="{05D07D9C-93B5-4C1E-A275-4AE95FA3A46A}"/>
          </ac:spMkLst>
        </pc:spChg>
      </pc:sldChg>
      <pc:sldChg chg="modSp mod">
        <pc:chgData name="yeshwanth guru" userId="4d80ee16f2bc6fd9" providerId="LiveId" clId="{A8250458-2220-401B-8DB9-F3CD59F72151}" dt="2026-09-02T17:27:31.524" v="60" actId="27636"/>
        <pc:sldMkLst>
          <pc:docMk/>
          <pc:sldMk cId="947180907" sldId="329"/>
        </pc:sldMkLst>
        <pc:spChg chg="mod">
          <ac:chgData name="yeshwanth guru" userId="4d80ee16f2bc6fd9" providerId="LiveId" clId="{A8250458-2220-401B-8DB9-F3CD59F72151}" dt="2026-09-02T17:27:31.524" v="58" actId="27636"/>
          <ac:spMkLst>
            <pc:docMk/>
            <pc:sldMk cId="947180907" sldId="329"/>
            <ac:spMk id="4" creationId="{8948B522-41BA-44B8-BF4D-999DBF6EEEDE}"/>
          </ac:spMkLst>
        </pc:spChg>
        <pc:spChg chg="mod">
          <ac:chgData name="yeshwanth guru" userId="4d80ee16f2bc6fd9" providerId="LiveId" clId="{A8250458-2220-401B-8DB9-F3CD59F72151}" dt="2026-09-02T17:27:31.524" v="59" actId="27636"/>
          <ac:spMkLst>
            <pc:docMk/>
            <pc:sldMk cId="947180907" sldId="329"/>
            <ac:spMk id="8" creationId="{8EAE51A1-2A55-4BF5-9827-7361E5B8FAAC}"/>
          </ac:spMkLst>
        </pc:spChg>
        <pc:spChg chg="mod">
          <ac:chgData name="yeshwanth guru" userId="4d80ee16f2bc6fd9" providerId="LiveId" clId="{A8250458-2220-401B-8DB9-F3CD59F72151}" dt="2026-09-02T17:27:31.524" v="60" actId="27636"/>
          <ac:spMkLst>
            <pc:docMk/>
            <pc:sldMk cId="947180907" sldId="329"/>
            <ac:spMk id="11" creationId="{D38428C6-05B4-479A-93C4-5673BE10B03D}"/>
          </ac:spMkLst>
        </pc:spChg>
      </pc:sldChg>
      <pc:sldChg chg="modSp mod">
        <pc:chgData name="yeshwanth guru" userId="4d80ee16f2bc6fd9" providerId="LiveId" clId="{A8250458-2220-401B-8DB9-F3CD59F72151}" dt="2026-09-02T17:27:31.524" v="62" actId="27636"/>
        <pc:sldMkLst>
          <pc:docMk/>
          <pc:sldMk cId="1097748133" sldId="330"/>
        </pc:sldMkLst>
        <pc:spChg chg="mod">
          <ac:chgData name="yeshwanth guru" userId="4d80ee16f2bc6fd9" providerId="LiveId" clId="{A8250458-2220-401B-8DB9-F3CD59F72151}" dt="2026-09-02T17:27:31.524" v="61" actId="27636"/>
          <ac:spMkLst>
            <pc:docMk/>
            <pc:sldMk cId="1097748133" sldId="330"/>
            <ac:spMk id="8" creationId="{8EAE51A1-2A55-4BF5-9827-7361E5B8FAAC}"/>
          </ac:spMkLst>
        </pc:spChg>
        <pc:spChg chg="mod">
          <ac:chgData name="yeshwanth guru" userId="4d80ee16f2bc6fd9" providerId="LiveId" clId="{A8250458-2220-401B-8DB9-F3CD59F72151}" dt="2026-09-02T17:27:31.524" v="62" actId="27636"/>
          <ac:spMkLst>
            <pc:docMk/>
            <pc:sldMk cId="1097748133" sldId="330"/>
            <ac:spMk id="14" creationId="{4D1D911F-E9FE-4EC8-ACF7-D2E6ADFF9BB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6AC1E-7703-4257-A44C-F474DE35902C}" type="datetimeFigureOut"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8EDC2-D2A5-43D4-840F-949E24B912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8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30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749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609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879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48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400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37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42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9153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26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613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326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64" r:id="rId6"/>
    <p:sldLayoutId id="2147483760" r:id="rId7"/>
    <p:sldLayoutId id="2147483761" r:id="rId8"/>
    <p:sldLayoutId id="2147483762" r:id="rId9"/>
    <p:sldLayoutId id="2147483763" r:id="rId10"/>
    <p:sldLayoutId id="214748376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FA22337-4CA0-428A-90ED-6242E231D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B52B49-27EB-4525-BDC0-F01D054C8E33}"/>
              </a:ext>
            </a:extLst>
          </p:cNvPr>
          <p:cNvSpPr txBox="1"/>
          <p:nvPr/>
        </p:nvSpPr>
        <p:spPr>
          <a:xfrm>
            <a:off x="8021865" y="921797"/>
            <a:ext cx="3455902" cy="3175000"/>
          </a:xfrm>
          <a:prstGeom prst="rect">
            <a:avLst/>
          </a:prstGeom>
        </p:spPr>
        <p:txBody>
          <a:bodyPr vertOverflow="overflow" vert="horz" lIns="91440" tIns="45720" rIns="91440" bIns="45720" rtlCol="0" anchor="t">
            <a:normAutofit/>
          </a:bodyPr>
          <a:lstStyle/>
          <a:p>
            <a:r>
              <a:rPr lang="en-US" sz="2200" cap="all" spc="30">
                <a:latin typeface="+mj-lt"/>
                <a:ea typeface="+mj-ea"/>
                <a:cs typeface="+mj-cs"/>
              </a:rPr>
              <a:t>ONLINE CONTINUAL LEARNING
IN DECENTRALIZED ROBOT AGENTS
FOR AUTONOMOUS SELF-HEALING</a:t>
            </a:r>
            <a:endParaRPr lang="en-US" sz="2200" cap="all" spc="30" dirty="0">
              <a:latin typeface="+mj-lt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FF381-CC9C-48F9-91A7-A193AAAA4B40}"/>
              </a:ext>
            </a:extLst>
          </p:cNvPr>
          <p:cNvSpPr txBox="1"/>
          <p:nvPr/>
        </p:nvSpPr>
        <p:spPr>
          <a:xfrm>
            <a:off x="8026400" y="4445000"/>
            <a:ext cx="3276600" cy="838200"/>
          </a:xfrm>
          <a:prstGeom prst="rect">
            <a:avLst/>
          </a:prstGeom>
        </p:spPr>
        <p:txBody>
          <a:bodyPr vertOverflow="overflow" vert="horz" lIns="91440" tIns="45720" rIns="91440" bIns="45720" rtlCol="0" anchor="b">
            <a:normAutofit fontScale="92500" lnSpcReduction="20000"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/>
              <a:t>Local LLM-based coordination with sensor-fault adaptation on the LeKwik mobile manipulator</a:t>
            </a:r>
          </a:p>
        </p:txBody>
      </p:sp>
      <p:pic>
        <p:nvPicPr>
          <p:cNvPr id="11" name="Picture 10" descr="Robot operating a machine">
            <a:extLst>
              <a:ext uri="{FF2B5EF4-FFF2-40B4-BE49-F238E27FC236}">
                <a16:creationId xmlns:a16="http://schemas.microsoft.com/office/drawing/2014/main" id="{83131DA9-B6B4-FADB-717C-4BC8D4AA9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861" r="4" b="29111"/>
          <a:stretch>
            <a:fillRect/>
          </a:stretch>
        </p:blipFill>
        <p:spPr>
          <a:xfrm>
            <a:off x="20" y="10"/>
            <a:ext cx="7315180" cy="342899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F9D138-2A50-4B26-B7AB-6D62CE1A9D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15300" y="747238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F1EAD952-C5C3-4259-B02D-96A231E19F43}"/>
              </a:ext>
            </a:extLst>
          </p:cNvPr>
          <p:cNvSpPr txBox="1"/>
          <p:nvPr/>
        </p:nvSpPr>
        <p:spPr>
          <a:xfrm>
            <a:off x="8026400" y="5943600"/>
            <a:ext cx="342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>
              <a:spcAft>
                <a:spcPts val="600"/>
              </a:spcAft>
            </a:pPr>
            <a:r>
              <a:rPr lang="en-US" sz="1000">
                <a:solidFill>
                  <a:srgbClr val="555555"/>
                </a:solidFill>
                <a:latin typeface="Arial"/>
                <a:cs typeface="Arial"/>
              </a:rPr>
              <a:t>Yeshwanth Guru Krishnakumar · PhD Research Proposal · Amrita University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40520305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PROPOSED RESEARCH AREA</a:t>
            </a:r>
            <a:endParaRPr lang="en-US" sz="2550"/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24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platform, one problem, and one deployed learning loop: sensor-fault self-healing on LeKwik.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Platform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LeKwik mobile manipulator
Holonomic base + 5-DoF arm
Feetech servos + gripper
Jetson Orin compute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system</a:t>
            </a:r>
            <a:endParaRPr lang="en-US" sz="1500"/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ARM, BASE, and GRIPPER agents monitor local health. A small local LLM coordinates reports, selects recovery actions, and operates without cloud dependence.</a:t>
            </a:r>
            <a:endParaRPr lang="en-US" sz="1200"/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0079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Target behaviour</a:t>
            </a:r>
            <a:endParaRPr lang="en-US" sz="1500"/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 a degrading sensor, compensate safely, execute the task, and retain the successful strategy for the next occurrence.</a:t>
            </a:r>
            <a:endParaRPr lang="en-US" sz="1150"/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area: local LLM coordination with online continual learning for sensor-fault adaptation on a real mobile manipulator.</a:t>
            </a:r>
            <a:endParaRPr lang="en-US" sz="1200"/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3 | Proposed research area and scope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10020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PRELIMINARY LITERATURE REVIEW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Each ingredient is established independently; the deployed combination remains open.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7500" lnSpcReduction="20000"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Fault tolerance &amp; robot reasoning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MROS / SkiROS2 reconfigure from authored models
• Cully, RMA, and Miki adapt from offline-trained priors
• REFLECT / DoReMi diagnose and replan with frozen LLMs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70000" lnSpcReduction="20000"/>
          </a:bodyPr>
          <a:lstStyle/>
          <a:p>
            <a:pPr algn="l"/>
            <a:r>
              <a:rPr lang="en-US" sz="1500" b="1">
                <a:solidFill>
                  <a:srgbClr val="6D28D9"/>
                </a:solidFill>
                <a:latin typeface="Arial"/>
                <a:cs typeface="Arial"/>
              </a:rPr>
              <a:t>Edge adaptation &amp; continual learning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LoRA / QLoRA make small updates tractable
• Phi-class and TinyLlama models fit edge devices
• EWC, DER++, GEM, and O-LoRA address forgetting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008575"/>
                </a:solidFill>
                <a:latin typeface="Arial"/>
                <a:cs typeface="Arial"/>
              </a:rPr>
              <a:t>Multi-agent coordination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RoCo and SMART-LLM coordinate task-level peers
• ROS 2 diagnostics decentralise monitoring
• Subsystem-health agents coordinated by a learning LLM remain unexplored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SOTA synthesis: current systems are rule-based, offline-learned, cloud-dependent, or task-level — not on-device, continually learning, subsystem-level, and embodied together.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4 | State of the art synthesis · Verify bibliography before submission</a:t>
            </a:r>
          </a:p>
        </p:txBody>
      </p:sp>
    </p:spTree>
    <p:extLst>
      <p:ext uri="{BB962C8B-B14F-4D97-AF65-F5344CB8AC3E}">
        <p14:creationId xmlns:p14="http://schemas.microsoft.com/office/powerpoint/2010/main" val="3332738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IDENTIFIED RESEARCH GAP</a:t>
            </a:r>
            <a:endParaRPr lang="en-US" sz="2550"/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52476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242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Fault-handling competence is currently bounded at deployment and does not improve with experience.</a:t>
            </a:r>
            <a:endParaRPr lang="en-US" sz="1350"/>
          </a:p>
        </p:txBody>
      </p:sp>
      <p:sp>
        <p:nvSpPr>
          <p:cNvPr id="6" name="Shape 4"/>
          <p:cNvSpPr/>
          <p:nvPr/>
        </p:nvSpPr>
        <p:spPr>
          <a:xfrm>
            <a:off x="800080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5975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is missing</a:t>
            </a:r>
            <a:endParaRPr lang="en-US" sz="1450"/>
          </a:p>
        </p:txBody>
      </p:sp>
      <p:sp>
        <p:nvSpPr>
          <p:cNvPr id="8" name="Text 6"/>
          <p:cNvSpPr/>
          <p:nvPr/>
        </p:nvSpPr>
        <p:spPr>
          <a:xfrm>
            <a:off x="1015975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No real robot updates LLM weights during deployment
• No subsystem-health LLM hierarchy on one platform
• No online-learned sensor-fault compensation</a:t>
            </a:r>
            <a:endParaRPr lang="en-US" sz="1200"/>
          </a:p>
        </p:txBody>
      </p:sp>
      <p:sp>
        <p:nvSpPr>
          <p:cNvPr id="9" name="Shape 7"/>
          <p:cNvSpPr/>
          <p:nvPr/>
        </p:nvSpPr>
        <p:spPr>
          <a:xfrm>
            <a:off x="4476638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2533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now</a:t>
            </a:r>
            <a:endParaRPr lang="en-US" sz="1450"/>
          </a:p>
        </p:txBody>
      </p:sp>
      <p:sp>
        <p:nvSpPr>
          <p:cNvPr id="11" name="Text 9"/>
          <p:cNvSpPr/>
          <p:nvPr/>
        </p:nvSpPr>
        <p:spPr>
          <a:xfrm>
            <a:off x="4692533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Sub-3B models fit Jetson-class hardware
• LoRA makes gradient updates tractable
• Replay-based continual learning is mature enough to test in the field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8153196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9091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0079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Novelty claim</a:t>
            </a:r>
            <a:endParaRPr lang="en-US" sz="1450"/>
          </a:p>
        </p:txBody>
      </p:sp>
      <p:sp>
        <p:nvSpPr>
          <p:cNvPr id="14" name="Text 12"/>
          <p:cNvSpPr/>
          <p:nvPr/>
        </p:nvSpPr>
        <p:spPr>
          <a:xfrm>
            <a:off x="8369091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LLM updates + online continual learning + hierarchical subsystem agents + sensor-fault adaptation + real hardware validation.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800080" y="5095875"/>
            <a:ext cx="10591535" cy="636191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9625" y="5238750"/>
            <a:ext cx="10172446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novelty is the combination: a robot that acquires and retains new compensation strategies from its own operational experience.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5 | Explicit research gap and novelty claim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200980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TENTATIVE OBJECTIVES — SYSTEM &amp; LEARNING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1085823" y="16764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2173" y="1682750"/>
            <a:ext cx="800080" cy="6477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3618" y="18827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O1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2158946" y="18446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 ARM, BASE, and GRIPPER agents that emit structured health reports and quantify fault-detection latency and false positives.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1085823" y="244792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2173" y="245427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63618" y="265430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O2</a:t>
            </a:r>
            <a:endParaRPr lang="en-US" sz="1650"/>
          </a:p>
        </p:txBody>
      </p:sp>
      <p:sp>
        <p:nvSpPr>
          <p:cNvPr id="12" name="Text 10"/>
          <p:cNvSpPr/>
          <p:nvPr/>
        </p:nvSpPr>
        <p:spPr>
          <a:xfrm>
            <a:off x="2158946" y="261620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Phi-2 or TinyLlama on Jetson Orin as the local coordinator, targeting end-to-end decisions within 200 ms.</a:t>
            </a:r>
            <a:endParaRPr lang="en-US" sz="1250"/>
          </a:p>
        </p:txBody>
      </p:sp>
      <p:sp>
        <p:nvSpPr>
          <p:cNvPr id="13" name="Shape 11"/>
          <p:cNvSpPr/>
          <p:nvPr/>
        </p:nvSpPr>
        <p:spPr>
          <a:xfrm>
            <a:off x="1085823" y="321945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2173" y="32258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3618" y="342582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O3</a:t>
            </a:r>
            <a:endParaRPr lang="en-US" sz="1650"/>
          </a:p>
        </p:txBody>
      </p:sp>
      <p:sp>
        <p:nvSpPr>
          <p:cNvPr id="16" name="Text 14"/>
          <p:cNvSpPr/>
          <p:nvPr/>
        </p:nvSpPr>
        <p:spPr>
          <a:xfrm>
            <a:off x="2158946" y="338772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Enable online LoRA updates with a replay buffer and show recovery success improves across repeated fault exposures.</a:t>
            </a:r>
            <a:endParaRPr lang="en-US" sz="1250"/>
          </a:p>
        </p:txBody>
      </p:sp>
      <p:sp>
        <p:nvSpPr>
          <p:cNvPr id="17" name="Shape 15"/>
          <p:cNvSpPr/>
          <p:nvPr/>
        </p:nvSpPr>
        <p:spPr>
          <a:xfrm>
            <a:off x="1085823" y="399097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2173" y="399732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3618" y="419735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O4</a:t>
            </a:r>
            <a:endParaRPr lang="en-US" sz="1650"/>
          </a:p>
        </p:txBody>
      </p:sp>
      <p:sp>
        <p:nvSpPr>
          <p:cNvPr id="20" name="Text 18"/>
          <p:cNvSpPr/>
          <p:nvPr/>
        </p:nvSpPr>
        <p:spPr>
          <a:xfrm>
            <a:off x="2158946" y="415925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 retention on prior fault types and nominal tasks to quantify catastrophic forgetting in an embodied stream.</a:t>
            </a:r>
            <a:endParaRPr lang="en-US" sz="1250"/>
          </a:p>
        </p:txBody>
      </p:sp>
      <p:sp>
        <p:nvSpPr>
          <p:cNvPr id="21" name="Shape 19"/>
          <p:cNvSpPr/>
          <p:nvPr/>
        </p:nvSpPr>
        <p:spPr>
          <a:xfrm>
            <a:off x="1085823" y="47625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2173" y="476885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3618" y="49688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O5</a:t>
            </a:r>
            <a:endParaRPr lang="en-US" sz="1650"/>
          </a:p>
        </p:txBody>
      </p:sp>
      <p:sp>
        <p:nvSpPr>
          <p:cNvPr id="24" name="Text 22"/>
          <p:cNvSpPr/>
          <p:nvPr/>
        </p:nvSpPr>
        <p:spPr>
          <a:xfrm>
            <a:off x="2158946" y="49307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hierarchical LLM coordination outperforms a hand-authored or MROS-style rule-based arbiter on identical fault sequences.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6 | Tentative objectives: system implementation and online learning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8965824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VALIDATION OBJECTIVES &amp; RESEARCH QUESTIONS</a:t>
            </a:r>
          </a:p>
        </p:txBody>
      </p:sp>
      <p:sp>
        <p:nvSpPr>
          <p:cNvPr id="5" name="Shape 3"/>
          <p:cNvSpPr/>
          <p:nvPr/>
        </p:nvSpPr>
        <p:spPr>
          <a:xfrm>
            <a:off x="1085823" y="16764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2173" y="1682750"/>
            <a:ext cx="800080" cy="6477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63618" y="18827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O6</a:t>
            </a:r>
          </a:p>
        </p:txBody>
      </p:sp>
      <p:sp>
        <p:nvSpPr>
          <p:cNvPr id="8" name="Text 6"/>
          <p:cNvSpPr/>
          <p:nvPr/>
        </p:nvSpPr>
        <p:spPr>
          <a:xfrm>
            <a:off x="2158946" y="18446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Validate the full loop on physical LeKwik with approximately 50 human–robot handover and fetch-and-place trials.</a:t>
            </a:r>
          </a:p>
        </p:txBody>
      </p:sp>
      <p:sp>
        <p:nvSpPr>
          <p:cNvPr id="9" name="Shape 7"/>
          <p:cNvSpPr/>
          <p:nvPr/>
        </p:nvSpPr>
        <p:spPr>
          <a:xfrm>
            <a:off x="1085823" y="244792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2173" y="245427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263618" y="265430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O7</a:t>
            </a:r>
          </a:p>
        </p:txBody>
      </p:sp>
      <p:sp>
        <p:nvSpPr>
          <p:cNvPr id="12" name="Text 10"/>
          <p:cNvSpPr/>
          <p:nvPr/>
        </p:nvSpPr>
        <p:spPr>
          <a:xfrm>
            <a:off x="2158946" y="261620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Demonstrate transfer to two or three unseen tasks without retraining the complete system from scratch.</a:t>
            </a:r>
          </a:p>
        </p:txBody>
      </p:sp>
      <p:sp>
        <p:nvSpPr>
          <p:cNvPr id="13" name="Shape 11"/>
          <p:cNvSpPr/>
          <p:nvPr/>
        </p:nvSpPr>
        <p:spPr>
          <a:xfrm>
            <a:off x="1085823" y="321945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92173" y="32258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263618" y="342582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RQ1</a:t>
            </a:r>
          </a:p>
        </p:txBody>
      </p:sp>
      <p:sp>
        <p:nvSpPr>
          <p:cNvPr id="16" name="Text 14"/>
          <p:cNvSpPr/>
          <p:nvPr/>
        </p:nvSpPr>
        <p:spPr>
          <a:xfrm>
            <a:off x="2158946" y="338772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Can decentralised subsystem agents detect and localise sensor faults faster and more reliably than a central monitor?</a:t>
            </a:r>
          </a:p>
        </p:txBody>
      </p:sp>
      <p:sp>
        <p:nvSpPr>
          <p:cNvPr id="17" name="Shape 15"/>
          <p:cNvSpPr/>
          <p:nvPr/>
        </p:nvSpPr>
        <p:spPr>
          <a:xfrm>
            <a:off x="1085823" y="3990975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92173" y="3997325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63618" y="4197350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RQ2</a:t>
            </a:r>
          </a:p>
        </p:txBody>
      </p:sp>
      <p:sp>
        <p:nvSpPr>
          <p:cNvPr id="20" name="Text 18"/>
          <p:cNvSpPr/>
          <p:nvPr/>
        </p:nvSpPr>
        <p:spPr>
          <a:xfrm>
            <a:off x="2158946" y="4159250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Can online LoRA with replay improve recovery while retaining competence on earlier faults and nominal operation?</a:t>
            </a:r>
          </a:p>
        </p:txBody>
      </p:sp>
      <p:sp>
        <p:nvSpPr>
          <p:cNvPr id="21" name="Shape 19"/>
          <p:cNvSpPr/>
          <p:nvPr/>
        </p:nvSpPr>
        <p:spPr>
          <a:xfrm>
            <a:off x="1085823" y="4762500"/>
            <a:ext cx="10001000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092173" y="476885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3618" y="4968875"/>
            <a:ext cx="47316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cs typeface="Helvetica Neue" pitchFamily="34" charset="-120"/>
              </a:rPr>
              <a:t>RQ3</a:t>
            </a:r>
          </a:p>
        </p:txBody>
      </p:sp>
      <p:sp>
        <p:nvSpPr>
          <p:cNvPr id="24" name="Text 22"/>
          <p:cNvSpPr/>
          <p:nvPr/>
        </p:nvSpPr>
        <p:spPr>
          <a:xfrm>
            <a:off x="2158946" y="4930775"/>
            <a:ext cx="857228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50">
                <a:solidFill>
                  <a:srgbClr val="111111"/>
                </a:solidFill>
                <a:latin typeface="Georgia" pitchFamily="34" charset="0"/>
                <a:cs typeface="Georgia" pitchFamily="34" charset="-120"/>
              </a:rPr>
              <a:t>Does a local LLM coordinator outperform rule-based arbitration under the same faults, tasks, and safety constraints?</a:t>
            </a:r>
          </a:p>
        </p:txBody>
      </p:sp>
      <p:sp>
        <p:nvSpPr>
          <p:cNvPr id="25" name="Text 23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7 | Validation objectives and core research questions</a:t>
            </a:r>
          </a:p>
        </p:txBody>
      </p:sp>
    </p:spTree>
    <p:extLst>
      <p:ext uri="{BB962C8B-B14F-4D97-AF65-F5344CB8AC3E}">
        <p14:creationId xmlns:p14="http://schemas.microsoft.com/office/powerpoint/2010/main" val="10274887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PROPOSED SELF-HEALING ARCHITECTURE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1142971" y="1504950"/>
            <a:ext cx="4524262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46200" y="159067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Sensor / actuator state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3343191" y="19050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42971" y="20383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42971" y="20415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64058" y="2038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142971" y="23780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81070" y="2038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46200" y="21304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ARM agent</a:t>
            </a:r>
            <a:endParaRPr lang="en-US" sz="1150"/>
          </a:p>
        </p:txBody>
      </p:sp>
      <p:sp>
        <p:nvSpPr>
          <p:cNvPr id="14" name="Shape 12"/>
          <p:cNvSpPr/>
          <p:nvPr/>
        </p:nvSpPr>
        <p:spPr>
          <a:xfrm>
            <a:off x="3343191" y="24384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142971" y="25717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42971" y="25749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64058" y="25717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142971" y="29114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181070" y="25717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346200" y="26638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 agent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3343191" y="29718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42971" y="31051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42971" y="31083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664058" y="31051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42971" y="34448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181070" y="31051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346200" y="31972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GRIPPER agent</a:t>
            </a:r>
            <a:endParaRPr lang="en-US" sz="1150"/>
          </a:p>
        </p:txBody>
      </p:sp>
      <p:sp>
        <p:nvSpPr>
          <p:cNvPr id="28" name="Shape 26"/>
          <p:cNvSpPr/>
          <p:nvPr/>
        </p:nvSpPr>
        <p:spPr>
          <a:xfrm>
            <a:off x="3343191" y="35052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142971" y="3638550"/>
            <a:ext cx="4524262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346200" y="372427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health reports</a:t>
            </a:r>
            <a:endParaRPr lang="en-US" sz="1150"/>
          </a:p>
        </p:txBody>
      </p:sp>
      <p:sp>
        <p:nvSpPr>
          <p:cNvPr id="31" name="Shape 29"/>
          <p:cNvSpPr/>
          <p:nvPr/>
        </p:nvSpPr>
        <p:spPr>
          <a:xfrm>
            <a:off x="3343191" y="40386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42971" y="41719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142971" y="41751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664058" y="41719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142971" y="45116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181070" y="41719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346200" y="42640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LLM coordinator on Jetson Orin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3343191" y="45720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42971" y="4705350"/>
            <a:ext cx="4524262" cy="342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42971" y="470852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664058" y="4705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142971" y="5045075"/>
            <a:ext cx="4524262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181070" y="4705350"/>
            <a:ext cx="0" cy="342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1346200" y="479742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 recovery action</a:t>
            </a:r>
            <a:endParaRPr lang="en-US" sz="1150"/>
          </a:p>
        </p:txBody>
      </p:sp>
      <p:sp>
        <p:nvSpPr>
          <p:cNvPr id="45" name="Shape 43"/>
          <p:cNvSpPr/>
          <p:nvPr/>
        </p:nvSpPr>
        <p:spPr>
          <a:xfrm>
            <a:off x="3343191" y="5105400"/>
            <a:ext cx="0" cy="95250"/>
          </a:xfrm>
          <a:prstGeom prst="line">
            <a:avLst/>
          </a:prstGeom>
          <a:solidFill>
            <a:srgbClr val="FFFFFF">
              <a:alpha val="0"/>
            </a:srgbClr>
          </a:solidFill>
          <a:ln w="1905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42971" y="5238750"/>
            <a:ext cx="4524262" cy="3429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346200" y="5324475"/>
            <a:ext cx="3810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Replay buffer + LoRA update</a:t>
            </a:r>
            <a:endParaRPr lang="en-US" sz="1150"/>
          </a:p>
        </p:txBody>
      </p:sp>
      <p:sp>
        <p:nvSpPr>
          <p:cNvPr id="48" name="Text 46"/>
          <p:cNvSpPr/>
          <p:nvPr/>
        </p:nvSpPr>
        <p:spPr>
          <a:xfrm>
            <a:off x="6429214" y="1581150"/>
            <a:ext cx="4595598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750" b="1">
                <a:solidFill>
                  <a:srgbClr val="11111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layers close the detect–recover–learn loop</a:t>
            </a:r>
            <a:endParaRPr lang="en-US" sz="1750"/>
          </a:p>
        </p:txBody>
      </p:sp>
      <p:sp>
        <p:nvSpPr>
          <p:cNvPr id="49" name="Shape 47"/>
          <p:cNvSpPr/>
          <p:nvPr/>
        </p:nvSpPr>
        <p:spPr>
          <a:xfrm>
            <a:off x="6305392" y="2057400"/>
            <a:ext cx="5086223" cy="771327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502238" y="2197100"/>
            <a:ext cx="4692533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Decentralised agent layer</a:t>
            </a:r>
            <a:endParaRPr lang="en-US" sz="1450"/>
          </a:p>
        </p:txBody>
      </p:sp>
      <p:sp>
        <p:nvSpPr>
          <p:cNvPr id="51" name="Text 49"/>
          <p:cNvSpPr/>
          <p:nvPr/>
        </p:nvSpPr>
        <p:spPr>
          <a:xfrm>
            <a:off x="6502238" y="2390378"/>
            <a:ext cx="4692533" cy="2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subsystem owns local residuals, anomaly signals, confidence, and a compact structured health report.</a:t>
            </a:r>
            <a:endParaRPr lang="en-US" sz="1050"/>
          </a:p>
        </p:txBody>
      </p:sp>
      <p:sp>
        <p:nvSpPr>
          <p:cNvPr id="52" name="Shape 50"/>
          <p:cNvSpPr/>
          <p:nvPr/>
        </p:nvSpPr>
        <p:spPr>
          <a:xfrm>
            <a:off x="6305392" y="3105150"/>
            <a:ext cx="5086223" cy="771327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502238" y="3244850"/>
            <a:ext cx="4692533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00796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coordination layer</a:t>
            </a:r>
            <a:endParaRPr lang="en-US" sz="1450"/>
          </a:p>
        </p:txBody>
      </p:sp>
      <p:sp>
        <p:nvSpPr>
          <p:cNvPr id="54" name="Text 52"/>
          <p:cNvSpPr/>
          <p:nvPr/>
        </p:nvSpPr>
        <p:spPr>
          <a:xfrm>
            <a:off x="6502238" y="3438128"/>
            <a:ext cx="4692533" cy="2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small LLM fuses reports with task context and selects re-parameterisation, sensor substitution, graceful degradation, or abort.</a:t>
            </a:r>
            <a:endParaRPr lang="en-US" sz="1050"/>
          </a:p>
        </p:txBody>
      </p:sp>
      <p:sp>
        <p:nvSpPr>
          <p:cNvPr id="55" name="Shape 53"/>
          <p:cNvSpPr/>
          <p:nvPr/>
        </p:nvSpPr>
        <p:spPr>
          <a:xfrm>
            <a:off x="6305392" y="4171950"/>
            <a:ext cx="5086223" cy="771327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502238" y="4311650"/>
            <a:ext cx="4692533" cy="1932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4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continual-learning layer</a:t>
            </a:r>
            <a:endParaRPr lang="en-US" sz="1450"/>
          </a:p>
        </p:txBody>
      </p:sp>
      <p:sp>
        <p:nvSpPr>
          <p:cNvPr id="57" name="Text 55"/>
          <p:cNvSpPr/>
          <p:nvPr/>
        </p:nvSpPr>
        <p:spPr>
          <a:xfrm>
            <a:off x="6502238" y="4504928"/>
            <a:ext cx="4692533" cy="2986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Recovery outcomes enter replay; safety-gated LoRA updates retain effective strategies while limiting forgetting.</a:t>
            </a:r>
            <a:endParaRPr lang="en-US" sz="1050"/>
          </a:p>
        </p:txBody>
      </p:sp>
      <p:sp>
        <p:nvSpPr>
          <p:cNvPr id="58" name="Text 56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8 | Proposed architecture: decentralised monitoring, local coordination, and continual learning</a:t>
            </a:r>
            <a:endParaRPr lang="en-US" sz="850"/>
          </a:p>
        </p:txBody>
      </p:sp>
    </p:spTree>
    <p:extLst>
      <p:ext uri="{BB962C8B-B14F-4D97-AF65-F5344CB8AC3E}">
        <p14:creationId xmlns:p14="http://schemas.microsoft.com/office/powerpoint/2010/main" val="3355437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EXPERIMENTAL METHODOLOGY — THREE PHASES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524762" cy="3839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Validation progresses from controlled fault injection to physical trials and task transfer.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5975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Phase 1 · Simulation</a:t>
            </a:r>
          </a:p>
        </p:txBody>
      </p:sp>
      <p:sp>
        <p:nvSpPr>
          <p:cNvPr id="8" name="Text 6"/>
          <p:cNvSpPr/>
          <p:nvPr/>
        </p:nvSpPr>
        <p:spPr>
          <a:xfrm>
            <a:off x="1015975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Gazebo + ROS 2 digital twin
• Systematic sensor-fault injection
• ~30 trials for ablations, safety envelopes, and hyperparameter selection</a:t>
            </a:r>
          </a:p>
        </p:txBody>
      </p:sp>
      <p:sp>
        <p:nvSpPr>
          <p:cNvPr id="9" name="Shape 7"/>
          <p:cNvSpPr/>
          <p:nvPr/>
        </p:nvSpPr>
        <p:spPr>
          <a:xfrm>
            <a:off x="4476638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92533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Phase 2 · Physical LeKwik</a:t>
            </a:r>
          </a:p>
        </p:txBody>
      </p:sp>
      <p:sp>
        <p:nvSpPr>
          <p:cNvPr id="11" name="Text 9"/>
          <p:cNvSpPr/>
          <p:nvPr/>
        </p:nvSpPr>
        <p:spPr>
          <a:xfrm>
            <a:off x="4692533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Human–robot handover and fetch-and-place
• ~50 real-hardware trials
• Full detect–coordinate–recover–learn loop on Jetson Orin</a:t>
            </a:r>
          </a:p>
        </p:txBody>
      </p:sp>
      <p:sp>
        <p:nvSpPr>
          <p:cNvPr id="12" name="Shape 10"/>
          <p:cNvSpPr/>
          <p:nvPr/>
        </p:nvSpPr>
        <p:spPr>
          <a:xfrm>
            <a:off x="8153196" y="2247900"/>
            <a:ext cx="3238419" cy="23622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69091" y="2463800"/>
            <a:ext cx="2806630" cy="260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Phase 3 · Generalisation</a:t>
            </a:r>
          </a:p>
        </p:txBody>
      </p:sp>
      <p:sp>
        <p:nvSpPr>
          <p:cNvPr id="14" name="Text 12"/>
          <p:cNvSpPr/>
          <p:nvPr/>
        </p:nvSpPr>
        <p:spPr>
          <a:xfrm>
            <a:off x="8369091" y="2724150"/>
            <a:ext cx="2806630" cy="597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Multi-item delivery and 2–3 unseen tasks
• Transfer without full retraining
• Measure recovery, retention, and task success beyond training tasks</a:t>
            </a:r>
          </a:p>
        </p:txBody>
      </p:sp>
      <p:sp>
        <p:nvSpPr>
          <p:cNvPr id="15" name="Shape 13"/>
          <p:cNvSpPr/>
          <p:nvPr/>
        </p:nvSpPr>
        <p:spPr>
          <a:xfrm>
            <a:off x="800080" y="5095875"/>
            <a:ext cx="10591535" cy="636191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09625" y="5238750"/>
            <a:ext cx="10172446" cy="350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The staged design makes simulation independently publishable while preserving the thesis's central real-hardware claim.</a:t>
            </a:r>
          </a:p>
        </p:txBody>
      </p:sp>
      <p:sp>
        <p:nvSpPr>
          <p:cNvPr id="17" name="Text 15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9 | Experimental phases and validation scale</a:t>
            </a:r>
          </a:p>
        </p:txBody>
      </p:sp>
    </p:spTree>
    <p:extLst>
      <p:ext uri="{BB962C8B-B14F-4D97-AF65-F5344CB8AC3E}">
        <p14:creationId xmlns:p14="http://schemas.microsoft.com/office/powerpoint/2010/main" val="3709301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BASELINES, METRICS &amp; ABLATIONS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The central evidence is a learning curve: recovery success versus prior exposure to the same fault.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Baselines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MROS / metacontrol: rule-based reconfiguration
• Frozen cloud LLM: REFLECT / DoReMi-style diagnosis
• Offline-trained sensor fault-tolerance policy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6D28D9"/>
                </a:solidFill>
                <a:latin typeface="Arial"/>
                <a:cs typeface="Arial"/>
              </a:rPr>
              <a:t>Metrics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Recovery success and time-to-recovery
• Retention on prior faults and nominal tasks
• On-device decision latency
• Task success under fault versus nominal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008575"/>
                </a:solidFill>
                <a:latin typeface="Arial"/>
                <a:cs typeface="Arial"/>
              </a:rPr>
              <a:t>Ablations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00">
                <a:solidFill>
                  <a:srgbClr val="111827"/>
                </a:solidFill>
                <a:latin typeface="Arial"/>
                <a:cs typeface="Arial"/>
              </a:rPr>
              <a:t>• With / without online updates
• With / without replay
• LLM versus rule-based arbiter
• Decentralised agents versus one central monitor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A successful thesis must prove improvement with experience, not merely one-off recovery or retrieval of a pre-authored response.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10 | Comparative evaluation design</a:t>
            </a:r>
          </a:p>
        </p:txBody>
      </p:sp>
    </p:spTree>
    <p:extLst>
      <p:ext uri="{BB962C8B-B14F-4D97-AF65-F5344CB8AC3E}">
        <p14:creationId xmlns:p14="http://schemas.microsoft.com/office/powerpoint/2010/main" val="3332738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VALIDATION METHODOLOGY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800080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6430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Environment &amp; stack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806430" y="1873250"/>
            <a:ext cx="2558986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LeKwik mobile manipulator
• ROS 2 + Gazebo digital twin
• NVIDIA Jetson Orin
• Phi-2 primary; TinyLlama fallback
• LoRA / QLoRA + replay buffer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3676558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2908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Tasks &amp; faults</a:t>
            </a:r>
            <a:endParaRPr lang="en-US" sz="1500"/>
          </a:p>
        </p:txBody>
      </p:sp>
      <p:sp>
        <p:nvSpPr>
          <p:cNvPr id="10" name="Text 8"/>
          <p:cNvSpPr/>
          <p:nvPr/>
        </p:nvSpPr>
        <p:spPr>
          <a:xfrm>
            <a:off x="3682908" y="1873250"/>
            <a:ext cx="2558986" cy="89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Human–robot handover
• Fetch-and-place
• Multi-item delivery
• Bias, drift, dropout, and degraded sensing
• Nominal-task retention checks</a:t>
            </a:r>
            <a:endParaRPr lang="en-US" sz="120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6572086" y="1600200"/>
          <a:ext cx="4819529" cy="1924051"/>
        </p:xfrm>
        <a:graphic>
          <a:graphicData uri="http://schemas.openxmlformats.org/drawingml/2006/table">
            <a:tbl>
              <a:tblPr/>
              <a:tblGrid>
                <a:gridCol w="21097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7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392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Metric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What it proves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Recovery success rate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Fault-handling effectiveness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Time-to-recovery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Closed-loop responsiveness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Learning curve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Improvement across repeated exposures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Retention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Forgetting on prior faults and nominal tasks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0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Decision latency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>
                          <a:solidFill>
                            <a:srgbClr val="111827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Jetson real-time feasibility</a:t>
                      </a:r>
                      <a:endParaRPr lang="en-US" sz="100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800080" y="5095875"/>
            <a:ext cx="10591535" cy="44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9625" y="5229225"/>
            <a:ext cx="10172446" cy="17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claim: quantify whether on-device learning improves recovery without violating latency, safety, or retention requirements.</a:t>
            </a:r>
            <a:endParaRPr lang="en-US" sz="1200"/>
          </a:p>
        </p:txBody>
      </p:sp>
      <p:sp>
        <p:nvSpPr>
          <p:cNvPr id="14" name="Text 11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333333"/>
                </a:solidFill>
                <a:latin typeface="Helvetica Neue"/>
                <a:ea typeface="Helvetica Neue"/>
                <a:cs typeface="Helvetica Neue" pitchFamily="34" charset="-120"/>
              </a:rPr>
              <a:t>Slide 11 | Hardware, software, task, fault, and metric definition</a:t>
            </a:r>
            <a:endParaRPr lang="en-US" sz="850">
              <a:latin typeface="Helvetica Neue"/>
              <a:ea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410076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EXPECTED OUTCOMES &amp; CONTRIBUTIONS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800080" y="158115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06430" y="1587500"/>
            <a:ext cx="800080" cy="6477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9321" y="177800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650"/>
          </a:p>
        </p:txBody>
      </p:sp>
      <p:sp>
        <p:nvSpPr>
          <p:cNvPr id="8" name="Text 6"/>
          <p:cNvSpPr/>
          <p:nvPr/>
        </p:nvSpPr>
        <p:spPr>
          <a:xfrm>
            <a:off x="1873203" y="1701800"/>
            <a:ext cx="266445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LLM adaptation</a:t>
            </a:r>
            <a:endParaRPr lang="en-US" sz="1350"/>
          </a:p>
        </p:txBody>
      </p:sp>
      <p:sp>
        <p:nvSpPr>
          <p:cNvPr id="9" name="Text 7"/>
          <p:cNvSpPr/>
          <p:nvPr/>
        </p:nvSpPr>
        <p:spPr>
          <a:xfrm>
            <a:off x="1873203" y="193992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deployed demonstration of a robot reasoning layer whose LoRA weights improve during field operation.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800080" y="236220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06430" y="2368550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49321" y="255905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650"/>
          </a:p>
        </p:txBody>
      </p:sp>
      <p:sp>
        <p:nvSpPr>
          <p:cNvPr id="13" name="Text 11"/>
          <p:cNvSpPr/>
          <p:nvPr/>
        </p:nvSpPr>
        <p:spPr>
          <a:xfrm>
            <a:off x="1873203" y="2482850"/>
            <a:ext cx="3070347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Subsystem-agent architecture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1873203" y="272097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ARM, BASE, and GRIPPER health agents coordinated by a local LLM rather than a fixed arbiter.</a:t>
            </a:r>
            <a:endParaRPr lang="en-US" sz="1000"/>
          </a:p>
        </p:txBody>
      </p:sp>
      <p:sp>
        <p:nvSpPr>
          <p:cNvPr id="15" name="Shape 13"/>
          <p:cNvSpPr/>
          <p:nvPr/>
        </p:nvSpPr>
        <p:spPr>
          <a:xfrm>
            <a:off x="800080" y="314325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06430" y="31496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49321" y="334010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650"/>
          </a:p>
        </p:txBody>
      </p:sp>
      <p:sp>
        <p:nvSpPr>
          <p:cNvPr id="18" name="Text 16"/>
          <p:cNvSpPr/>
          <p:nvPr/>
        </p:nvSpPr>
        <p:spPr>
          <a:xfrm>
            <a:off x="1873203" y="3263900"/>
            <a:ext cx="371654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Online sensor-fault self-healing</a:t>
            </a:r>
            <a:endParaRPr lang="en-US" sz="1350"/>
          </a:p>
        </p:txBody>
      </p:sp>
      <p:sp>
        <p:nvSpPr>
          <p:cNvPr id="19" name="Text 17"/>
          <p:cNvSpPr/>
          <p:nvPr/>
        </p:nvSpPr>
        <p:spPr>
          <a:xfrm>
            <a:off x="1873203" y="350202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Empirical learning curves showing compensation strategies acquired and retained across repeated faults.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800080" y="392430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6430" y="3930650"/>
            <a:ext cx="800080" cy="647700"/>
          </a:xfrm>
          <a:prstGeom prst="rect">
            <a:avLst/>
          </a:prstGeom>
          <a:solidFill>
            <a:srgbClr val="6D28D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49321" y="412115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650"/>
          </a:p>
        </p:txBody>
      </p:sp>
      <p:sp>
        <p:nvSpPr>
          <p:cNvPr id="23" name="Text 21"/>
          <p:cNvSpPr/>
          <p:nvPr/>
        </p:nvSpPr>
        <p:spPr>
          <a:xfrm>
            <a:off x="1873203" y="4044950"/>
            <a:ext cx="3616433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Embodied continual-learning evidence</a:t>
            </a:r>
            <a:endParaRPr lang="en-US" sz="1350"/>
          </a:p>
        </p:txBody>
      </p:sp>
      <p:sp>
        <p:nvSpPr>
          <p:cNvPr id="24" name="Text 22"/>
          <p:cNvSpPr/>
          <p:nvPr/>
        </p:nvSpPr>
        <p:spPr>
          <a:xfrm>
            <a:off x="1873203" y="428307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Measured stability–plasticity behaviour under a self-generated, non-stationary, safety-coupled stream.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800080" y="4705350"/>
            <a:ext cx="10591535" cy="6477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06430" y="4711700"/>
            <a:ext cx="800080" cy="647700"/>
          </a:xfrm>
          <a:prstGeom prst="rect">
            <a:avLst/>
          </a:prstGeom>
          <a:solidFill>
            <a:srgbClr val="0079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149321" y="4902200"/>
            <a:ext cx="1397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650"/>
          </a:p>
        </p:txBody>
      </p:sp>
      <p:sp>
        <p:nvSpPr>
          <p:cNvPr id="28" name="Text 26"/>
          <p:cNvSpPr/>
          <p:nvPr/>
        </p:nvSpPr>
        <p:spPr>
          <a:xfrm>
            <a:off x="1873203" y="4826000"/>
            <a:ext cx="3573472" cy="24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stack and publication pathway</a:t>
            </a:r>
            <a:endParaRPr lang="en-US" sz="1350"/>
          </a:p>
        </p:txBody>
      </p:sp>
      <p:sp>
        <p:nvSpPr>
          <p:cNvPr id="29" name="Text 27"/>
          <p:cNvSpPr/>
          <p:nvPr/>
        </p:nvSpPr>
        <p:spPr>
          <a:xfrm>
            <a:off x="1873203" y="5064125"/>
            <a:ext cx="8953276" cy="139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Reproducible LeRobot validation stack; architecture/simulation to ICRA, full hardware study to Science Robotics, transfer to RA-L.</a:t>
            </a:r>
            <a:endParaRPr lang="en-US" sz="1000"/>
          </a:p>
        </p:txBody>
      </p:sp>
      <p:sp>
        <p:nvSpPr>
          <p:cNvPr id="30" name="Text 28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333333"/>
                </a:solidFill>
                <a:latin typeface="Helvetica Neue"/>
                <a:ea typeface="Helvetica Neue"/>
                <a:cs typeface="Helvetica Neue" pitchFamily="34" charset="-120"/>
              </a:rPr>
              <a:t>Slide 12 | Expected outcomes, contributions, and 12-month publication pathway</a:t>
            </a:r>
            <a:endParaRPr lang="en-US" sz="850">
              <a:latin typeface="Helvetica Neue"/>
              <a:ea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70255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0B0B0B"/>
                </a:solidFill>
                <a:latin typeface="Arial"/>
                <a:cs typeface="Arial"/>
              </a:rPr>
              <a:t>RISKS &amp; MITIGATIONS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200" b="1">
                <a:solidFill>
                  <a:srgbClr val="111111"/>
                </a:solidFill>
                <a:latin typeface="Georgia"/>
              </a:rPr>
              <a:t>The design separates learning from safety-critical control and preserves a publishable simulation path.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Compute &amp; latency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50">
                <a:solidFill>
                  <a:srgbClr val="111827"/>
                </a:solidFill>
                <a:latin typeface="Arial"/>
                <a:cs typeface="Arial"/>
              </a:rPr>
              <a:t>• Decouple update cadence from the control loop
• Run adaptation asynchronously with safety gating
• Fall back to inference-only mode under load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Learning stability &amp; safety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50">
                <a:solidFill>
                  <a:srgbClr val="111827"/>
                </a:solidFill>
                <a:latin typeface="Arial"/>
                <a:cs typeface="Arial"/>
              </a:rPr>
              <a:t>• Replay plus orthogonal-subspace LoRA constraints
• Hard safety envelope outside the learned layer
• Restrict decisions to a validated recovery action set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20000"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rial"/>
                <a:cs typeface="Arial"/>
              </a:rPr>
              <a:t>Execution &amp; hardware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1150">
                <a:solidFill>
                  <a:srgbClr val="111827"/>
                </a:solidFill>
                <a:latin typeface="Arial"/>
                <a:cs typeface="Arial"/>
              </a:rPr>
              <a:t>• Start ethics approval immediately
• Treat Phase 1 as an independent publishable unit
• Maintain servo spares and a Gazebo digital twin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/>
            <a:r>
              <a:rPr lang="en-US" sz="1050">
                <a:solidFill>
                  <a:srgbClr val="FFFFFF"/>
                </a:solidFill>
                <a:latin typeface="Georgia"/>
              </a:rPr>
              <a:t>Risk posture: the learned layer selects among safe options; it never authors unconstrained low-level control.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00">
                <a:solidFill>
                  <a:srgbClr val="111827"/>
                </a:solidFill>
                <a:latin typeface="Arial"/>
                <a:cs typeface="Arial"/>
              </a:rPr>
              <a:t>Slide 13 | Key risks and mitigation strategy</a:t>
            </a:r>
          </a:p>
        </p:txBody>
      </p:sp>
    </p:spTree>
    <p:extLst>
      <p:ext uri="{BB962C8B-B14F-4D97-AF65-F5344CB8AC3E}">
        <p14:creationId xmlns:p14="http://schemas.microsoft.com/office/powerpoint/2010/main" val="16661032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550" b="1" i="1">
                <a:solidFill>
                  <a:srgbClr val="05050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FROM FIXED FAULT TOLERANCE TO LEARNING SELF-HEALING</a:t>
            </a:r>
            <a:endParaRPr lang="en-US" sz="2550"/>
          </a:p>
        </p:txBody>
      </p:sp>
      <p:sp>
        <p:nvSpPr>
          <p:cNvPr id="5" name="Shape 3"/>
          <p:cNvSpPr/>
          <p:nvPr/>
        </p:nvSpPr>
        <p:spPr>
          <a:xfrm>
            <a:off x="800080" y="1581150"/>
            <a:ext cx="10591535" cy="1143000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62021" y="1847850"/>
            <a:ext cx="9867653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600" b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Decentralised subsystem agents, coordinated by a local LLM that updates its own weights online, can turn sensor-fault tolerance from a fixed deployment property into a capability that improves with experience.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00080" y="3105150"/>
            <a:ext cx="3428914" cy="18669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73123" y="3340100"/>
            <a:ext cx="2882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Scope discipline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1073123" y="3606800"/>
            <a:ext cx="2882828" cy="8612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2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One platform: LeKwik
• One problem: sensor-fault self-healing
• One architecture: agents + local LLM + online CL
• Three validation phases
• Quantum-cognition work remains off the critical path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629034" y="3105150"/>
            <a:ext cx="6762581" cy="18669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29034" y="3108325"/>
            <a:ext cx="676258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1388440" y="3105150"/>
            <a:ext cx="0" cy="18669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9034" y="4968875"/>
            <a:ext cx="6762581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7133" y="3105150"/>
            <a:ext cx="0" cy="18669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10025" y="3378200"/>
            <a:ext cx="6070449" cy="792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Applications: service and assistive robotics, warehouse mobile manipulation, human–robot collaboration, and search and rescue — wherever a robot must keep working without a technician.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333333"/>
                </a:solidFill>
                <a:latin typeface="Helvetica Neue"/>
                <a:ea typeface="Helvetica Neue"/>
                <a:cs typeface="Helvetica Neue" pitchFamily="34" charset="-120"/>
              </a:rPr>
              <a:t>Slide 14 | Closing thesis statement and application scope</a:t>
            </a:r>
            <a:endParaRPr lang="en-US" sz="850">
              <a:latin typeface="Helvetica Neue"/>
              <a:ea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5702857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RUNTIME FAULT TOLERANCE &amp; SELF-ADAPTATION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A · Adaptation via authored models, precomputed archives, or offline-trained robustness.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Model-based reconfiguration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MROS — Hernández Corbato et al. (2022): TOMASys ontology drives runtime metacontrol and ROS 2 reconfiguration.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SkiROS2 — Mayr et al. (2023): skill/world-model layer that re-plans when preconditions fail.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Behavior Trees — Colledanchise &amp; Ögren (2018): modular reactive control and recovery structure.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Offline-learned adaptation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Cully et al. (2015), Nature: damage recovery by search over a precomputed behaviour archive.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RMA — Kumar et al. (2021): rapid motor adaptation; adaptation module frozen at deployment.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Miki et al. (2022), Science Robotics: learned proprioceptive fallback for degraded perception.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Relevance &amp; limitation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Safe reconfiguration and robust control are achievable on real robots today.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But competence is fixed at deployment — recoveries are anticipated offline and never improve from field experience.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Pillar A supplies this thesis's non-learning baselines (MROS, offline FTC) — strong and provable, but unable to acquire new strategies on-device.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1/5 | Pillar A · Runtime fault tolerance and self-adaptation</a:t>
            </a:r>
          </a:p>
        </p:txBody>
      </p:sp>
    </p:spTree>
    <p:extLst>
      <p:ext uri="{BB962C8B-B14F-4D97-AF65-F5344CB8AC3E}">
        <p14:creationId xmlns:p14="http://schemas.microsoft.com/office/powerpoint/2010/main" val="9471809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LLMs FOR ROBOT REASONING &amp; RECOVERY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B · LLMs diagnose failures and replan well — but the model is frozen, often cloud-hosted, and reasons at task level.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Planning &amp; grounding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SayCan — Ahn et al. (2022): grounds LLM plans in learned affordances.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Inner Monologue — Huang et al. (2022): textual feedback closes the replanning loop.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Code as Policies — Liang et al. (2023): LLM emits executable policy code.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ProgPrompt — Singh et al. (2023): programmatic prompts for situated plans.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Failure reasoning &amp; recovery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REFLECT — Liu et al. (2023): multisensory experience summary; the LLM explains failure and re-plans.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DoReMi — Guo et al. (2023): LLM emits constraints; a VLM detects violations and triggers recovery.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Vision-language-action models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fontScale="92500" lnSpcReduction="10000"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RT-2 — Brohan et al. (2023): web-scale VLM transferred to robot actions.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OpenVLA — Kim et al. (2024): open 7B vision-language-action model.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RoboCat — Bousmalis et al. (2023): self-improves via offline rounds, not online.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π0 — Black et al. (2024): flow-based generalist VLA policy.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Shared blind spot: the LLM is a fixed reasoning oracle at the task level — never updated in the field, never at the subsystem-health level.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2/5 | Pillar B · LLMs for robot reasoning, diagnosis, and replanning</a:t>
            </a:r>
          </a:p>
        </p:txBody>
      </p:sp>
    </p:spTree>
    <p:extLst>
      <p:ext uri="{BB962C8B-B14F-4D97-AF65-F5344CB8AC3E}">
        <p14:creationId xmlns:p14="http://schemas.microsoft.com/office/powerpoint/2010/main" val="10977481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ON-DEVICE &amp; EDGE LLM ADAPTATION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C · Updating a small LLM on embedded hardware is feasible — but the literature is inference-oriented and non-robotic.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Parameter-efficient tuning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LoRA — Hu et al. (2021): low-rank adapters cut trainable parameters by orders of magnitude.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QLoRA — Dettmers et al. (2023): fine-tunes adapters over a 4-bit quantized frozen model.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Small capable edge models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Phi-3 — Abdin et al. (2024): 3.8B model with strong reasoning at edge scale.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TinyLlama — Zhang et al. (2024): 1.1B model trained on 3T tokens for on-device use.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MobileLLM — Liu et al. (2024): sub-billion architecture design for on-device inference.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Relevance &amp; limitation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Gradient updates to a small LLM on a Jetson-class device are now tractable.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But edge-LLM work is almost entirely inference-only and non-robotic — on-device learning in a control loop is unexplored.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Pillar C proves on-device adaptation is feasible in principle; no prior work closes the loop by learning during physical robot control.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3/5 | Pillar C · On-device and edge LLM adaptation</a:t>
            </a:r>
          </a:p>
        </p:txBody>
      </p:sp>
    </p:spTree>
    <p:extLst>
      <p:ext uri="{BB962C8B-B14F-4D97-AF65-F5344CB8AC3E}">
        <p14:creationId xmlns:p14="http://schemas.microsoft.com/office/powerpoint/2010/main" val="1246089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300" b="1" i="1">
                <a:solidFill>
                  <a:srgbClr val="111111"/>
                </a:solidFill>
                <a:latin typeface="Arial"/>
                <a:cs typeface="Arial"/>
              </a:rPr>
              <a:t>LITERATURE REVIEW — ONLINE CONTINUAL LEARNING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D · Learning-without-forgetting is mature — but on curated, i.i.d. benchmark streams, not self-generated embodied ones.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Forgetting &amp; regularisation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McCloskey &amp; Cohen (1989): first characterization of catastrophic forgetting.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EWC — Kirkpatrick et al. (2017): penalizes changes to parameters important to prior tasks.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Replay methods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GEM — Lopez-Paz &amp; Ranzato (2017): episodic memory constrains gradient updates.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A-GEM — Chaudhry et al. (2019): efficient averaged-gradient variant of GEM.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DER++ — Buzzega et al. (2020): replays samples plus logits; strong online baseline.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PEFT-based CL &amp; benchmarks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O-LoRA — Wang et al. (2023): sequential LoRA updates in orthogonal subspaces.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InfLoRA — Liang et al. (2024): interference-free low-rank continual adaptation.</a:t>
            </a:r>
          </a:p>
          <a:p>
            <a:pPr algn="l">
              <a:spcAft>
                <a:spcPts val="2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LIBERO — Liu et al. (2023): lifelong robot-manipulation benchmark.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CL guarantees are benchmark-derived; behaviour under a self-generated, non-stationary, safety-coupled robot stream is largely unmeasured.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4/5 | Pillar D · Online continual learning</a:t>
            </a:r>
          </a:p>
        </p:txBody>
      </p:sp>
    </p:spTree>
    <p:extLst>
      <p:ext uri="{BB962C8B-B14F-4D97-AF65-F5344CB8AC3E}">
        <p14:creationId xmlns:p14="http://schemas.microsoft.com/office/powerpoint/2010/main" val="16041783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ite background">
            <a:extLst>
              <a:ext uri="{FF2B5EF4-FFF2-40B4-BE49-F238E27FC236}">
                <a16:creationId xmlns:a16="http://schemas.microsoft.com/office/drawing/2014/main" id="{23A81744-F9E1-45D1-BE94-D4DDD77CAB8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op rule">
            <a:extLst>
              <a:ext uri="{FF2B5EF4-FFF2-40B4-BE49-F238E27FC236}">
                <a16:creationId xmlns:a16="http://schemas.microsoft.com/office/drawing/2014/main" id="{E1C38173-B7C2-41D3-B1F0-A96FE57F2417}"/>
              </a:ext>
            </a:extLst>
          </p:cNvPr>
          <p:cNvSpPr/>
          <p:nvPr/>
        </p:nvSpPr>
        <p:spPr>
          <a:xfrm>
            <a:off x="800100" y="704850"/>
            <a:ext cx="10591800" cy="47625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948B522-41BA-44B8-BF4D-999DBF6EEEDE}"/>
              </a:ext>
            </a:extLst>
          </p:cNvPr>
          <p:cNvSpPr txBox="1"/>
          <p:nvPr/>
        </p:nvSpPr>
        <p:spPr>
          <a:xfrm>
            <a:off x="914400" y="990600"/>
            <a:ext cx="104140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100" b="1" i="1">
                <a:solidFill>
                  <a:srgbClr val="111111"/>
                </a:solidFill>
                <a:latin typeface="Arial"/>
                <a:cs typeface="Arial"/>
              </a:rPr>
              <a:t>LITERATURE REVIEW — MULTI-AGENT &amp; HIERARCHICAL LLM COORDINATION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B487C454-BB02-4C2A-ADB7-99A2869242E2}"/>
              </a:ext>
            </a:extLst>
          </p:cNvPr>
          <p:cNvSpPr txBox="1"/>
          <p:nvPr/>
        </p:nvSpPr>
        <p:spPr>
          <a:xfrm>
            <a:off x="914400" y="1752600"/>
            <a:ext cx="990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50" b="1">
                <a:solidFill>
                  <a:srgbClr val="111111"/>
                </a:solidFill>
                <a:latin typeface="Georgia"/>
              </a:rPr>
              <a:t>Pillar E · LLM-mediated coordination is well demonstrated — but between task-level robots, not subsystems of one robot.</a:t>
            </a:r>
          </a:p>
        </p:txBody>
      </p:sp>
      <p:sp>
        <p:nvSpPr>
          <p:cNvPr id="6" name="Evidence card 1">
            <a:extLst>
              <a:ext uri="{FF2B5EF4-FFF2-40B4-BE49-F238E27FC236}">
                <a16:creationId xmlns:a16="http://schemas.microsoft.com/office/drawing/2014/main" id="{FB8A2323-4861-4000-B0EF-5BAB80A98B69}"/>
              </a:ext>
            </a:extLst>
          </p:cNvPr>
          <p:cNvSpPr/>
          <p:nvPr/>
        </p:nvSpPr>
        <p:spPr>
          <a:xfrm>
            <a:off x="80010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Card heading 1">
            <a:extLst>
              <a:ext uri="{FF2B5EF4-FFF2-40B4-BE49-F238E27FC236}">
                <a16:creationId xmlns:a16="http://schemas.microsoft.com/office/drawing/2014/main" id="{D8BC7E26-4FC2-44F5-91B1-167AA80EB57B}"/>
              </a:ext>
            </a:extLst>
          </p:cNvPr>
          <p:cNvSpPr txBox="1"/>
          <p:nvPr/>
        </p:nvSpPr>
        <p:spPr>
          <a:xfrm>
            <a:off x="101600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Robotics-specific coordination</a:t>
            </a:r>
          </a:p>
        </p:txBody>
      </p:sp>
      <p:sp>
        <p:nvSpPr>
          <p:cNvPr id="8" name="Card body 1">
            <a:extLst>
              <a:ext uri="{FF2B5EF4-FFF2-40B4-BE49-F238E27FC236}">
                <a16:creationId xmlns:a16="http://schemas.microsoft.com/office/drawing/2014/main" id="{8EAE51A1-2A55-4BF5-9827-7361E5B8FAAC}"/>
              </a:ext>
            </a:extLst>
          </p:cNvPr>
          <p:cNvSpPr txBox="1"/>
          <p:nvPr/>
        </p:nvSpPr>
        <p:spPr>
          <a:xfrm>
            <a:off x="101600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RoCo — Mandi et al. (2024): dialectic multi-robot collaboration via LLM dialogue.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SMART-LLM — Kannan et al. (2024): LLM task decomposition, coalition forming, and allocation.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Co-NavGPT — Yu et al. (2023): LLM coordinates multi-robot exploration.</a:t>
            </a:r>
          </a:p>
        </p:txBody>
      </p:sp>
      <p:sp>
        <p:nvSpPr>
          <p:cNvPr id="9" name="Evidence card 2">
            <a:extLst>
              <a:ext uri="{FF2B5EF4-FFF2-40B4-BE49-F238E27FC236}">
                <a16:creationId xmlns:a16="http://schemas.microsoft.com/office/drawing/2014/main" id="{E6856DC3-CA4F-48A2-98D8-218EC66E2AFE}"/>
              </a:ext>
            </a:extLst>
          </p:cNvPr>
          <p:cNvSpPr/>
          <p:nvPr/>
        </p:nvSpPr>
        <p:spPr>
          <a:xfrm>
            <a:off x="4486275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Card heading 2">
            <a:extLst>
              <a:ext uri="{FF2B5EF4-FFF2-40B4-BE49-F238E27FC236}">
                <a16:creationId xmlns:a16="http://schemas.microsoft.com/office/drawing/2014/main" id="{86A3F16B-C5A3-4B8D-B033-D67AA029C7AB}"/>
              </a:ext>
            </a:extLst>
          </p:cNvPr>
          <p:cNvSpPr txBox="1"/>
          <p:nvPr/>
        </p:nvSpPr>
        <p:spPr>
          <a:xfrm>
            <a:off x="4702175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General LLM agent frameworks</a:t>
            </a:r>
          </a:p>
        </p:txBody>
      </p:sp>
      <p:sp>
        <p:nvSpPr>
          <p:cNvPr id="11" name="Card body 2">
            <a:extLst>
              <a:ext uri="{FF2B5EF4-FFF2-40B4-BE49-F238E27FC236}">
                <a16:creationId xmlns:a16="http://schemas.microsoft.com/office/drawing/2014/main" id="{D38428C6-05B4-479A-93C4-5673BE10B03D}"/>
              </a:ext>
            </a:extLst>
          </p:cNvPr>
          <p:cNvSpPr txBox="1"/>
          <p:nvPr/>
        </p:nvSpPr>
        <p:spPr>
          <a:xfrm>
            <a:off x="4702175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AutoGen — Wu et al. (2023): conversable multi-agent framework for role-specialized LLMs.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CAMEL — Li et al. (2023): role-playing agents cooperate through natural-language dialogue.</a:t>
            </a:r>
          </a:p>
        </p:txBody>
      </p:sp>
      <p:sp>
        <p:nvSpPr>
          <p:cNvPr id="12" name="Evidence card 3">
            <a:extLst>
              <a:ext uri="{FF2B5EF4-FFF2-40B4-BE49-F238E27FC236}">
                <a16:creationId xmlns:a16="http://schemas.microsoft.com/office/drawing/2014/main" id="{6EF6B974-5BF1-4EDF-9A60-EA8544399881}"/>
              </a:ext>
            </a:extLst>
          </p:cNvPr>
          <p:cNvSpPr/>
          <p:nvPr/>
        </p:nvSpPr>
        <p:spPr>
          <a:xfrm>
            <a:off x="8172450" y="2336800"/>
            <a:ext cx="3225800" cy="2159000"/>
          </a:xfrm>
          <a:prstGeom prst="rect">
            <a:avLst/>
          </a:prstGeom>
          <a:solidFill>
            <a:srgbClr val="F4F5F7"/>
          </a:solidFill>
          <a:ln w="12700" cap="flat" cmpd="sng" algn="ctr">
            <a:solidFill>
              <a:srgbClr val="CBD1D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3" name="Card heading 3">
            <a:extLst>
              <a:ext uri="{FF2B5EF4-FFF2-40B4-BE49-F238E27FC236}">
                <a16:creationId xmlns:a16="http://schemas.microsoft.com/office/drawing/2014/main" id="{6BEB62CA-8F25-4F25-BBF2-53E01EF40B5B}"/>
              </a:ext>
            </a:extLst>
          </p:cNvPr>
          <p:cNvSpPr txBox="1"/>
          <p:nvPr/>
        </p:nvSpPr>
        <p:spPr>
          <a:xfrm>
            <a:off x="8388350" y="25527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111827"/>
                </a:solidFill>
                <a:latin typeface="Arial"/>
                <a:cs typeface="Arial"/>
              </a:rPr>
              <a:t>Relevance &amp; limitation</a:t>
            </a:r>
          </a:p>
        </p:txBody>
      </p:sp>
      <p:sp>
        <p:nvSpPr>
          <p:cNvPr id="14" name="Card body 3">
            <a:extLst>
              <a:ext uri="{FF2B5EF4-FFF2-40B4-BE49-F238E27FC236}">
                <a16:creationId xmlns:a16="http://schemas.microsoft.com/office/drawing/2014/main" id="{4D1D911F-E9FE-4EC8-ACF7-D2E6ADFF9BB0}"/>
              </a:ext>
            </a:extLst>
          </p:cNvPr>
          <p:cNvSpPr txBox="1"/>
          <p:nvPr/>
        </p:nvSpPr>
        <p:spPr>
          <a:xfrm>
            <a:off x="8388350" y="2959100"/>
            <a:ext cx="2794000" cy="1244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Coordination works, but agents are task-level peers (robot A fetches, robot B holds).</a:t>
            </a:r>
          </a:p>
          <a:p>
            <a:pPr algn="l">
              <a:spcAft>
                <a:spcPts val="300"/>
              </a:spcAft>
            </a:pPr>
            <a:r>
              <a:rPr lang="en-US" sz="1000">
                <a:solidFill>
                  <a:srgbClr val="111827"/>
                </a:solidFill>
                <a:latin typeface="Arial"/>
                <a:cs typeface="Arial"/>
              </a:rPr>
              <a:t>No mainstream work makes agents subsystem-health monitors of one robot, reporting to a local LLM that also learns.</a:t>
            </a:r>
          </a:p>
        </p:txBody>
      </p:sp>
      <p:sp>
        <p:nvSpPr>
          <p:cNvPr id="15" name="Takeaway bar">
            <a:extLst>
              <a:ext uri="{FF2B5EF4-FFF2-40B4-BE49-F238E27FC236}">
                <a16:creationId xmlns:a16="http://schemas.microsoft.com/office/drawing/2014/main" id="{62EDA28B-0DB7-4236-A081-05BFE440EDE9}"/>
              </a:ext>
            </a:extLst>
          </p:cNvPr>
          <p:cNvSpPr/>
          <p:nvPr/>
        </p:nvSpPr>
        <p:spPr>
          <a:xfrm>
            <a:off x="800100" y="5095875"/>
            <a:ext cx="10591800" cy="596900"/>
          </a:xfrm>
          <a:prstGeom prst="rect">
            <a:avLst/>
          </a:prstGeom>
          <a:solidFill>
            <a:srgbClr val="11111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akeaway text">
            <a:extLst>
              <a:ext uri="{FF2B5EF4-FFF2-40B4-BE49-F238E27FC236}">
                <a16:creationId xmlns:a16="http://schemas.microsoft.com/office/drawing/2014/main" id="{05D07D9C-93B5-4C1E-A275-4AE95FA3A46A}"/>
              </a:ext>
            </a:extLst>
          </p:cNvPr>
          <p:cNvSpPr txBox="1"/>
          <p:nvPr/>
        </p:nvSpPr>
        <p:spPr>
          <a:xfrm>
            <a:off x="1009650" y="5257800"/>
            <a:ext cx="1016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950">
                <a:solidFill>
                  <a:srgbClr val="FFFFFF"/>
                </a:solidFill>
                <a:latin typeface="Georgia"/>
              </a:rPr>
              <a:t>Pillar E leaves open the granularity this thesis targets: ARM/BASE/GRIPPER health agents coordinated — and improved — by a learning local LLM.</a:t>
            </a:r>
          </a:p>
        </p:txBody>
      </p:sp>
      <p:sp>
        <p:nvSpPr>
          <p:cNvPr id="17" name="Footer">
            <a:extLst>
              <a:ext uri="{FF2B5EF4-FFF2-40B4-BE49-F238E27FC236}">
                <a16:creationId xmlns:a16="http://schemas.microsoft.com/office/drawing/2014/main" id="{4225188E-38F8-4E65-809C-6516E41C32E8}"/>
              </a:ext>
            </a:extLst>
          </p:cNvPr>
          <p:cNvSpPr txBox="1"/>
          <p:nvPr/>
        </p:nvSpPr>
        <p:spPr>
          <a:xfrm>
            <a:off x="800100" y="6153150"/>
            <a:ext cx="10591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850">
                <a:solidFill>
                  <a:srgbClr val="222222"/>
                </a:solidFill>
                <a:latin typeface="Arial"/>
                <a:cs typeface="Arial"/>
              </a:rPr>
              <a:t>Literature review 5/5 | Pillar E · Multi-agent and hierarchical LLM coordination</a:t>
            </a:r>
          </a:p>
        </p:txBody>
      </p:sp>
    </p:spTree>
    <p:extLst>
      <p:ext uri="{BB962C8B-B14F-4D97-AF65-F5344CB8AC3E}">
        <p14:creationId xmlns:p14="http://schemas.microsoft.com/office/powerpoint/2010/main" val="23769818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LITERATURE SYNTHESIS — THE OPEN SYSTEM GAP</a:t>
            </a:r>
            <a:endParaRPr lang="en-US" sz="2300" b="1">
              <a:solidFill>
                <a:srgbClr val="11111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800080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6430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included</a:t>
            </a:r>
            <a:endParaRPr lang="en-US" sz="1400" b="1">
              <a:solidFill>
                <a:srgbClr val="111827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06430" y="1873250"/>
            <a:ext cx="2558986" cy="7123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~34 papers across five pillars
• A · Runtime fault tolerance &amp; self-adaptation
• B · LLMs for robot reasoning &amp; recovery
• C · On-device / edge LLM adaptation
• D · Online continual learning
• E · Multi-agent LLM coordination</a:t>
            </a:r>
          </a:p>
        </p:txBody>
      </p:sp>
      <p:sp>
        <p:nvSpPr>
          <p:cNvPr id="8" name="Shape 6"/>
          <p:cNvSpPr/>
          <p:nvPr/>
        </p:nvSpPr>
        <p:spPr>
          <a:xfrm>
            <a:off x="3676558" y="1600200"/>
            <a:ext cx="2571686" cy="314325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82908" y="1606550"/>
            <a:ext cx="255898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 criteria</a:t>
            </a:r>
            <a:endParaRPr lang="en-US" sz="1400" b="1">
              <a:solidFill>
                <a:srgbClr val="6D28D9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682908" y="1873250"/>
            <a:ext cx="2558986" cy="890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• Online vs. offline adaptation
• Cloud vs. on-device inference
• Robot-level vs. subsystem agents
• Recovery success and retention
• Safety, latency, and rollback</a:t>
            </a:r>
            <a:endParaRPr lang="en-US" sz="1050">
              <a:solidFill>
                <a:srgbClr val="111827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800080" y="5095875"/>
            <a:ext cx="10591535" cy="440432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9625" y="5229225"/>
            <a:ext cx="10172446" cy="1737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5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Gap: no reviewed system jointly demonstrates decentralized subsystem health agents, a local LLM coordinator, safety-gated online updates, and retention on a real mobile manipulator.</a:t>
            </a:r>
            <a:endParaRPr lang="en-US" sz="950">
              <a:solidFill>
                <a:srgbClr val="FFFFFF"/>
              </a:solidFill>
            </a:endParaRPr>
          </a:p>
        </p:txBody>
      </p:sp>
      <p:sp>
        <p:nvSpPr>
          <p:cNvPr id="14" name="Text 11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850">
                <a:solidFill>
                  <a:srgbClr val="222222"/>
                </a:solidFill>
                <a:latin typeface="Helvetica Neue"/>
                <a:ea typeface="Helvetica Neue"/>
                <a:cs typeface="Helvetica Neue" pitchFamily="34" charset="-120"/>
              </a:rPr>
              <a:t>Literature synthesis | Evidence boundary and research gap</a:t>
            </a:r>
            <a:endParaRPr lang="en-US" sz="850">
              <a:solidFill>
                <a:srgbClr val="222222"/>
              </a:solidFill>
              <a:latin typeface="Helvetica Neue"/>
              <a:ea typeface="Helvetica Neue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29CABE9-F381-45B1-8C71-CDAAB59A67FD}"/>
              </a:ext>
            </a:extLst>
          </p:cNvPr>
          <p:cNvGraphicFramePr>
            <a:graphicFrameLocks noGrp="1"/>
          </p:cNvGraphicFramePr>
          <p:nvPr/>
        </p:nvGraphicFramePr>
        <p:xfrm>
          <a:off x="6572250" y="1600200"/>
          <a:ext cx="481965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550">
                  <a:extLst>
                    <a:ext uri="{9D8B030D-6E8A-4147-A177-3AD203B41FA5}">
                      <a16:colId xmlns:a16="http://schemas.microsoft.com/office/drawing/2014/main" val="4229033987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4189873824"/>
                    </a:ext>
                  </a:extLst>
                </a:gridCol>
                <a:gridCol w="1606550">
                  <a:extLst>
                    <a:ext uri="{9D8B030D-6E8A-4147-A177-3AD203B41FA5}">
                      <a16:colId xmlns:a16="http://schemas.microsoft.com/office/drawing/2014/main" val="1546923509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Theme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Established evidence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950" b="1">
                          <a:solidFill>
                            <a:srgbClr val="FFFFFF"/>
                          </a:solidFill>
                        </a:rPr>
                        <a:t>Open requirement</a:t>
                      </a:r>
                    </a:p>
                  </a:txBody>
                  <a:tcPr anchor="ctr">
                    <a:solidFill>
                      <a:srgbClr val="1111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27507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Fault response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Reconfigure or adapt from prior models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Learn from repeated sensor faults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516279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LLM robotics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Diagnose, replan, and coordinate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Local, persistent, safety-gated updates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172329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Multi-agent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Robot-level task allocation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Subsystem-level health coordination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547719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Continual learning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Replay and regularization benchmarks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850" b="0">
                          <a:solidFill>
                            <a:srgbClr val="111827"/>
                          </a:solidFill>
                        </a:rPr>
                        <a:t>Embodied retention under edge limits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87634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023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cs typeface="Arial Narrow" pitchFamily="34" charset="-120"/>
              </a:rPr>
              <a:t>SELECTED REFERENCES — FAULT TOLERANCE &amp; EDGE LLMs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</a:rPr>
              <a:t>Pillars A and C · runtime adaptation, learned fault tolerance, and on-device language models.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Model-based reconfiguration</a:t>
            </a:r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Hernández Corbato, C., Bozhinoski, D., et al. (2022). A metacontrol approach for the runtime adaptation of ROS 2 systems. Advanced Robotics, 36(7).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Mayr, M., et al. (2023). SkiROS2: A skill-based robot control platform for ROS. IEEE/RSJ IROS. arXiv:2306.17030.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Colledanchise, M., &amp; Ögren, P. (2018). Behavior Trees in Robotics and AI: An Introduction. CRC Press.</a:t>
            </a:r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Learned fault tolerance</a:t>
            </a:r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Cully, A., Clune, J., Tarapore, D., &amp; Mouret, J.-B. (2015). Robots that can adapt like animals. Nature, 521, 503–507.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Kumar, A., Fu, Z., Pathak, D., &amp; Malik, J. (2021). RMA: Rapid Motor Adaptation for Legged Robots. RSS XVII.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 Miki, T., Lee, J., Hwangbo, J., et al. (2022). Learning robust perceptive locomotion for quadrupedal robots in the wild. Science Robotics, 7(62).</a:t>
            </a:r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On-device &amp; edge LLMs</a:t>
            </a:r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7. Hu, E. J., et al. (2021). LoRA: Low-Rank Adaptation of LLMs. arXiv:2106.09685.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8. Dettmers, T., et al. (2023). QLoRA: Efficient Finetuning of Quantized LLMs. NeurIPS 36.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9. Abdin, M., et al. (2024). Phi-3 Technical Report. arXiv:2404.14219.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10. Zhang, P., et al. (2024). TinyLlama: An Open-Source Small Language Model. arXiv:2401.02385.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11. Liu, Z., et al. (2024). MobileLLM: Optimizing Sub-billion Parameter LMs. ICML 2024.</a:t>
            </a:r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Georgia" pitchFamily="34" charset="0"/>
              </a:rPr>
              <a:t>Verify all identifiers (authors, venue, year, DOI/arXiv) before submission; several entries are reconstructed from memory.</a:t>
            </a:r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1/3 | Pillars A &amp; C · Fault tolerance and edge LLMs</a:t>
            </a:r>
          </a:p>
        </p:txBody>
      </p:sp>
    </p:spTree>
    <p:extLst>
      <p:ext uri="{BB962C8B-B14F-4D97-AF65-F5344CB8AC3E}">
        <p14:creationId xmlns:p14="http://schemas.microsoft.com/office/powerpoint/2010/main" val="24284861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cs typeface="Arial Narrow" pitchFamily="34" charset="-120"/>
              </a:rPr>
              <a:t>SELECTED REFERENCES — LLMs FOR ROBOT REASONING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</a:rPr>
              <a:t>Pillar B · language-model planning, failure reasoning, and vision-language-action policies.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 planning &amp; grounding</a:t>
            </a:r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12. Ahn, M., et al. (2022). Do As I Can, Not As I Say: Grounding Language in Robotic Affordances (SayCan). CoRL. arXiv:2204.01691.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13. Huang, W., et al. (2022). Inner Monologue: Embodied Reasoning through Planning with Language Models. CoRL. arXiv:2207.05608.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14. Liang, J., et al. (2023). Code as Policies: Language Model Programs for Embodied Control. ICRA. arXiv:2209.07753.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15. Singh, I., et al. (2023). ProgPrompt: Generating Situated Robot Task Plans using LLMs. ICRA. arXiv:2209.11302.</a:t>
            </a:r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Failure reasoning &amp; recovery</a:t>
            </a:r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16. Liu, Z., et al. (2023). REFLECT: Summarizing Robot Experiences for Failure Explanation and Correction. CoRL. arXiv:2306.15724.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17. Guo, Y., et al. (2023). DoReMi: Detecting and Recovering from Plan-Execution Misalignment. arXiv:2307.00329.</a:t>
            </a:r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Vision-language-action models</a:t>
            </a:r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18. Brohan, A., et al. (2023). RT-2: Vision-Language-Action Models Transfer Web Knowledge to Robotic Control. arXiv:2307.15818.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19. Kim, M. J., et al. (2024). OpenVLA: An Open-Source Vision-Language-Action Model. CoRL. arXiv:2406.09246.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20. Bousmalis, K., et al. (2023). RoboCat: A Self-Improving Generalist Agent for Robotic Manipulation. TMLR.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21. Black, K., et al. (2024). π0: A Vision-Language-Action Flow Model for General Robot Control. arXiv:2410.24164.</a:t>
            </a:r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Georgia" pitchFamily="34" charset="0"/>
              </a:rPr>
              <a:t>Verify all identifiers (authors, venue, year, DOI/arXiv) before submission; several entries are reconstructed from memory.</a:t>
            </a:r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2/3 | Pillar B · LLMs for robot reasoning and recovery</a:t>
            </a:r>
          </a:p>
        </p:txBody>
      </p:sp>
    </p:spTree>
    <p:extLst>
      <p:ext uri="{BB962C8B-B14F-4D97-AF65-F5344CB8AC3E}">
        <p14:creationId xmlns:p14="http://schemas.microsoft.com/office/powerpoint/2010/main" val="35684619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00080" y="704850"/>
            <a:ext cx="10591535" cy="47625"/>
          </a:xfrm>
          <a:prstGeom prst="rect">
            <a:avLst/>
          </a:prstGeom>
          <a:solidFill>
            <a:srgbClr val="0B0B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377" y="952500"/>
            <a:ext cx="1028674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i="1">
                <a:solidFill>
                  <a:srgbClr val="111111"/>
                </a:solidFill>
                <a:latin typeface="Arial Narrow" pitchFamily="34" charset="0"/>
                <a:cs typeface="Arial Narrow" pitchFamily="34" charset="-120"/>
              </a:rPr>
              <a:t>SELECTED REFERENCES — CONTINUAL LEARNING &amp; COORDINATION</a:t>
            </a:r>
          </a:p>
        </p:txBody>
      </p:sp>
      <p:sp>
        <p:nvSpPr>
          <p:cNvPr id="5" name="Text 3"/>
          <p:cNvSpPr/>
          <p:nvPr/>
        </p:nvSpPr>
        <p:spPr>
          <a:xfrm>
            <a:off x="914377" y="1504950"/>
            <a:ext cx="9334267" cy="1953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>
                <a:solidFill>
                  <a:srgbClr val="111111"/>
                </a:solidFill>
                <a:latin typeface="Georgia" pitchFamily="34" charset="0"/>
              </a:rPr>
              <a:t>Pillars D and E · continual learning, parameter-efficient tuning, and multi-agent LLM coordination.</a:t>
            </a:r>
          </a:p>
        </p:txBody>
      </p:sp>
      <p:sp>
        <p:nvSpPr>
          <p:cNvPr id="6" name="Shape 4"/>
          <p:cNvSpPr/>
          <p:nvPr/>
        </p:nvSpPr>
        <p:spPr>
          <a:xfrm>
            <a:off x="800080" y="2286000"/>
            <a:ext cx="3095548" cy="2400300"/>
          </a:xfrm>
          <a:prstGeom prst="rect">
            <a:avLst/>
          </a:prstGeom>
          <a:solidFill>
            <a:srgbClr val="F6F6F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0080" y="228917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92453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0080" y="4683125"/>
            <a:ext cx="3095548" cy="0"/>
          </a:xfrm>
          <a:prstGeom prst="line">
            <a:avLst/>
          </a:prstGeom>
          <a:solidFill>
            <a:srgbClr val="FFFFFF">
              <a:alpha val="0"/>
            </a:srgbClr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57229" y="2286000"/>
            <a:ext cx="0" cy="2400300"/>
          </a:xfrm>
          <a:prstGeom prst="line">
            <a:avLst/>
          </a:prstGeom>
          <a:solidFill>
            <a:srgbClr val="FFFFFF">
              <a:alpha val="0"/>
            </a:srgbClr>
          </a:solidFill>
          <a:ln w="1143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377" y="2292350"/>
            <a:ext cx="297490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Continual-learning foundations</a:t>
            </a:r>
          </a:p>
        </p:txBody>
      </p:sp>
      <p:sp>
        <p:nvSpPr>
          <p:cNvPr id="12" name="Text 10"/>
          <p:cNvSpPr/>
          <p:nvPr/>
        </p:nvSpPr>
        <p:spPr>
          <a:xfrm>
            <a:off x="914377" y="2559050"/>
            <a:ext cx="2974901" cy="665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22. McCloskey, M., &amp; Cohen, N. J. (1989). Catastrophic Interference in Connectionist Networks. Psych. of Learning &amp; Motivation, 24.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23. Kirkpatrick, J., et al. (2017). Overcoming catastrophic forgetting in neural networks. PNAS, 114(13).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24. Lopez-Paz, D., &amp; Ranzato, M. (2017). Gradient Episodic Memory for Continual Learning. NeurIPS 30.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25. Chaudhry, A., et al. (2019). Efficient Lifelong Learning with A-GEM. ICLR.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26. Buzzega, P., et al. (2020). Dark Experience for General Continual Learning (DER++). NeurIPS 33.</a:t>
            </a:r>
          </a:p>
        </p:txBody>
      </p:sp>
      <p:sp>
        <p:nvSpPr>
          <p:cNvPr id="13" name="Shape 11"/>
          <p:cNvSpPr/>
          <p:nvPr/>
        </p:nvSpPr>
        <p:spPr>
          <a:xfrm>
            <a:off x="4552836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59186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PEFT &amp; lifelong learning</a:t>
            </a:r>
          </a:p>
        </p:txBody>
      </p:sp>
      <p:sp>
        <p:nvSpPr>
          <p:cNvPr id="15" name="Text 13"/>
          <p:cNvSpPr/>
          <p:nvPr/>
        </p:nvSpPr>
        <p:spPr>
          <a:xfrm>
            <a:off x="4559186" y="2559050"/>
            <a:ext cx="3082848" cy="832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27. Wang, X., et al. (2023). Orthogonal Subspace Learning for LM Continual Learning (O-LoRA). Findings of EMNLP.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28. Liang, Y.-S., &amp; Li, W.-J. (2024). InfLoRA: Interference-Free Low-Rank Adaptation for Continual Learning. CVPR.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29. Liu, B., et al. (2023). LIBERO: Benchmarking Knowledge Transfer for Lifelong Robot Learning. NeurIPS D&amp;B.</a:t>
            </a:r>
          </a:p>
        </p:txBody>
      </p:sp>
      <p:sp>
        <p:nvSpPr>
          <p:cNvPr id="16" name="Shape 14"/>
          <p:cNvSpPr/>
          <p:nvPr/>
        </p:nvSpPr>
        <p:spPr>
          <a:xfrm>
            <a:off x="8296068" y="2286000"/>
            <a:ext cx="3095548" cy="2400300"/>
          </a:xfrm>
          <a:prstGeom prst="rect">
            <a:avLst/>
          </a:prstGeom>
          <a:solidFill>
            <a:srgbClr val="F6F6F7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02418" y="2292350"/>
            <a:ext cx="3082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Multi-agent LLM coordination</a:t>
            </a:r>
          </a:p>
        </p:txBody>
      </p:sp>
      <p:sp>
        <p:nvSpPr>
          <p:cNvPr id="18" name="Text 16"/>
          <p:cNvSpPr/>
          <p:nvPr/>
        </p:nvSpPr>
        <p:spPr>
          <a:xfrm>
            <a:off x="8302418" y="2559050"/>
            <a:ext cx="3082848" cy="4994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30. Mandi, Z., Jain, S., &amp; Song, S. (2024). RoCo: Dialectic Multi-Robot Collaboration with LLMs. ICRA.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31. Kannan, S. S., et al. (2024). SMART-LLM: Smart Multi-Agent Robot Task Planning using LLMs. IROS.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32. Yu, B., et al. (2023). Co-NavGPT: Multi-Robot Cooperative Visual Navigation with LLMs. arXiv:2310.07937.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33. Wu, Q., et al. (2023). AutoGen: Multi-Agent Conversation Framework. arXiv:2308.08155.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900">
                <a:solidFill>
                  <a:srgbClr val="11182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34. Li, G., et al. (2023). CAMEL: Communicative Agents for LLM Society. NeurIPS 36.</a:t>
            </a:r>
          </a:p>
        </p:txBody>
      </p:sp>
      <p:sp>
        <p:nvSpPr>
          <p:cNvPr id="19" name="Shape 17"/>
          <p:cNvSpPr/>
          <p:nvPr/>
        </p:nvSpPr>
        <p:spPr>
          <a:xfrm>
            <a:off x="800080" y="5143500"/>
            <a:ext cx="10591535" cy="443409"/>
          </a:xfrm>
          <a:prstGeom prst="rect">
            <a:avLst/>
          </a:prstGeom>
          <a:solidFill>
            <a:srgbClr val="11111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90575" y="5276850"/>
            <a:ext cx="10210545" cy="176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FFFFFF"/>
                </a:solidFill>
                <a:latin typeface="Georgia" pitchFamily="34" charset="0"/>
              </a:rPr>
              <a:t>Verify all identifiers (authors, venue, year, DOI/arXiv) before submission; several entries are reconstructed from memory.</a:t>
            </a:r>
          </a:p>
        </p:txBody>
      </p:sp>
      <p:sp>
        <p:nvSpPr>
          <p:cNvPr id="21" name="Text 19"/>
          <p:cNvSpPr/>
          <p:nvPr/>
        </p:nvSpPr>
        <p:spPr>
          <a:xfrm>
            <a:off x="800080" y="6153150"/>
            <a:ext cx="1059153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222222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References 3/3 | Pillars D &amp; E · Continual learning and coordination</a:t>
            </a:r>
          </a:p>
        </p:txBody>
      </p:sp>
    </p:spTree>
    <p:extLst>
      <p:ext uri="{BB962C8B-B14F-4D97-AF65-F5344CB8AC3E}">
        <p14:creationId xmlns:p14="http://schemas.microsoft.com/office/powerpoint/2010/main" val="1271474873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24" row="1">
    <wetp:webextensionref xmlns:r="http://schemas.openxmlformats.org/officeDocument/2006/relationships" r:id="rId1"/>
  </wetp:taskpane>
  <wetp:taskpane dockstate="right" visibility="0" width="90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DD95828-47E6-49B5-BE30-45F7C3FD2BC0}">
  <we:reference id="WA200010215" version="2.0.0.0" store="en-US" storeType="omex"/>
  <we:alternateReferences>
    <we:reference id="WA200010215" version="2.0.0.0" store="omex" storeType="omex"/>
  </we:alternateReferences>
  <we:properties>
    <we:property name="bps.codex_control.document_id" value="&quot;6576d2af-ff32-413c-8a22-2a95054057dc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537088EF-7162-4635-AF56-902A5698A5B3}">
  <we:reference id="WA200010725" version="1.0.0.1" store="en-US" storeType="omex"/>
  <we:alternateReferences>
    <we:reference id="WA200010725" version="1.0.0.1" store="omex" storeType="omex"/>
  </we:alternateReferences>
  <we:properties>
    <we:property name="claude.fileId" value="&quot;ee7f3e58-f40c-4e11-b4bb-1de70a1a1a5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3896</Words>
  <Application>Microsoft Office PowerPoint</Application>
  <PresentationFormat>Widescreen</PresentationFormat>
  <Paragraphs>311</Paragraphs>
  <Slides>22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Arial</vt:lpstr>
      <vt:lpstr>Arial Narrow</vt:lpstr>
      <vt:lpstr>Calibri</vt:lpstr>
      <vt:lpstr>Calisto MT</vt:lpstr>
      <vt:lpstr>Georgia</vt:lpstr>
      <vt:lpstr>Helvetica Neue</vt:lpstr>
      <vt:lpstr>Univers Condensed</vt:lpstr>
      <vt:lpstr>ChronicleVTI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yeshwanth guru</cp:lastModifiedBy>
  <cp:revision>73</cp:revision>
  <dcterms:created xsi:type="dcterms:W3CDTF">2026-06-27T14:48:26Z</dcterms:created>
  <dcterms:modified xsi:type="dcterms:W3CDTF">2026-09-02T17:33:15Z</dcterms:modified>
</cp:coreProperties>
</file>